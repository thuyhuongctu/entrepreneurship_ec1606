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44.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67" r:id="rId25"/>
    <p:sldId id="268" r:id="rId26"/>
    <p:sldId id="269" r:id="rId27"/>
    <p:sldId id="270" r:id="rId28"/>
    <p:sldId id="275" r:id="rId33"/>
    <p:sldId id="310" r:id="rId68"/>
    <p:sldId id="315" r:id="rId73"/>
    <p:sldId id="316" r:id="rId74"/>
  </p:sldIdLst>
  <p:sldSz cx="18288000" cy="10287000"/>
  <p:notesSz cx="6858000" cy="9144000"/>
  <p:embeddedFontLst>
    <p:embeddedFont>
      <p:font typeface="Roboto" charset="0"/>
      <p:bold r:id="rId14"/>
      <p:boldItalic r:id="rId15"/>
    </p:embeddedFont>
    <p:embeddedFont>
      <p:font typeface="Calibri" pitchFamily="3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i3vgPPzlDR5id04RzYuzVcscIIV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E0F7F910-62E2-467A-A3EA-7CB14D2E1E0A}">
  <a:tblStyle styleId="{E0F7F910-62E2-467A-A3EA-7CB14D2E1E0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1" d="100"/>
          <a:sy n="31" d="100"/>
        </p:scale>
        <p:origin x="-537"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customschemas.google.com/relationships/presentationmetadata" Target="meta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xml"/><Relationship Id="rId26" Type="http://schemas.openxmlformats.org/officeDocument/2006/relationships/slide" Target="slides/slide2.xml"/><Relationship Id="rId27" Type="http://schemas.openxmlformats.org/officeDocument/2006/relationships/slide" Target="slides/slide3.xml"/><Relationship Id="rId28" Type="http://schemas.openxmlformats.org/officeDocument/2006/relationships/slide" Target="slides/slide4.xml"/><Relationship Id="rId33" Type="http://schemas.openxmlformats.org/officeDocument/2006/relationships/slide" Target="slides/slide9.xml"/><Relationship Id="rId68" Type="http://schemas.openxmlformats.org/officeDocument/2006/relationships/slide" Target="slides/slide44.xml"/><Relationship Id="rId73" Type="http://schemas.openxmlformats.org/officeDocument/2006/relationships/slide" Target="slides/slide49.xml"/><Relationship Id="rId74"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43852981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1"/>
          <p:cNvSpPr>
            <a:spLocks noGrp="1"/>
          </p:cNvSpPr>
          <p:nvPr>
            <p:ph type="pic" idx="2"/>
          </p:nvPr>
        </p:nvSpPr>
        <p:spPr>
          <a:xfrm>
            <a:off x="1792288" y="612775"/>
            <a:ext cx="5486400" cy="4114800"/>
          </a:xfrm>
          <a:prstGeom prst="rect">
            <a:avLst/>
          </a:prstGeom>
          <a:noFill/>
          <a:ln>
            <a:noFill/>
          </a:ln>
        </p:spPr>
      </p:sp>
      <p:sp>
        <p:nvSpPr>
          <p:cNvPr id="64" name="Google Shape;64;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3.png"/><Relationship Id="rId9" Type="http://schemas.openxmlformats.org/officeDocument/2006/relationships/image" Target="../media/image8.png"/><Relationship Id="rId10" Type="http://schemas.openxmlformats.org/officeDocument/2006/relationships/image" Target="../media/image2.png"/><Relationship Id="rId11"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7.jpg"/><Relationship Id="rId5" Type="http://schemas.openxmlformats.org/officeDocument/2006/relationships/image" Target="../media/image6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0.png"/><Relationship Id="rId6" Type="http://schemas.openxmlformats.org/officeDocument/2006/relationships/image" Target="../media/image4.png"/><Relationship Id="rId7"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84" name="Google Shape;84;p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85" name="Google Shape;85;p1"/>
          <p:cNvGrpSpPr/>
          <p:nvPr/>
        </p:nvGrpSpPr>
        <p:grpSpPr>
          <a:xfrm rot="5400000">
            <a:off x="17110809" y="8144837"/>
            <a:ext cx="586784" cy="1553028"/>
            <a:chOff x="0" y="-47625"/>
            <a:chExt cx="103692" cy="274439"/>
          </a:xfrm>
        </p:grpSpPr>
        <p:sp>
          <p:nvSpPr>
            <p:cNvPr id="86" name="Google Shape;86;p1"/>
            <p:cNvSpPr/>
            <p:nvPr/>
          </p:nvSpPr>
          <p:spPr>
            <a:xfrm>
              <a:off x="0" y="0"/>
              <a:ext cx="103692" cy="226814"/>
            </a:xfrm>
            <a:custGeom>
              <a:avLst/>
              <a:gdLst/>
              <a:ahLst/>
              <a:cxnLst/>
              <a:rect l="l" t="t" r="r" b="b"/>
              <a:pathLst>
                <a:path w="103692" h="226814" extrusionOk="0">
                  <a:moveTo>
                    <a:pt x="51846" y="0"/>
                  </a:moveTo>
                  <a:lnTo>
                    <a:pt x="51846" y="0"/>
                  </a:lnTo>
                  <a:cubicBezTo>
                    <a:pt x="80480" y="0"/>
                    <a:pt x="103692" y="23212"/>
                    <a:pt x="103692" y="51846"/>
                  </a:cubicBezTo>
                  <a:lnTo>
                    <a:pt x="103692" y="174968"/>
                  </a:lnTo>
                  <a:cubicBezTo>
                    <a:pt x="103692" y="188718"/>
                    <a:pt x="98229" y="201906"/>
                    <a:pt x="88507" y="211629"/>
                  </a:cubicBezTo>
                  <a:cubicBezTo>
                    <a:pt x="78784" y="221352"/>
                    <a:pt x="65596" y="226814"/>
                    <a:pt x="51846" y="226814"/>
                  </a:cubicBezTo>
                  <a:lnTo>
                    <a:pt x="51846" y="226814"/>
                  </a:lnTo>
                  <a:cubicBezTo>
                    <a:pt x="38096" y="226814"/>
                    <a:pt x="24908" y="221352"/>
                    <a:pt x="15185" y="211629"/>
                  </a:cubicBezTo>
                  <a:cubicBezTo>
                    <a:pt x="5462" y="201906"/>
                    <a:pt x="0" y="188718"/>
                    <a:pt x="0" y="174968"/>
                  </a:cubicBezTo>
                  <a:lnTo>
                    <a:pt x="0" y="51846"/>
                  </a:lnTo>
                  <a:cubicBezTo>
                    <a:pt x="0" y="38096"/>
                    <a:pt x="5462" y="24908"/>
                    <a:pt x="15185" y="15185"/>
                  </a:cubicBezTo>
                  <a:cubicBezTo>
                    <a:pt x="24908" y="5462"/>
                    <a:pt x="38096" y="0"/>
                    <a:pt x="51846" y="0"/>
                  </a:cubicBezTo>
                  <a:close/>
                </a:path>
              </a:pathLst>
            </a:custGeom>
            <a:gradFill>
              <a:gsLst>
                <a:gs pos="0">
                  <a:srgbClr val="90DF44">
                    <a:alpha val="40000"/>
                  </a:srgbClr>
                </a:gs>
                <a:gs pos="100000">
                  <a:srgbClr val="90DF44">
                    <a:alpha val="3529"/>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
            <p:cNvSpPr txBox="1"/>
            <p:nvPr/>
          </p:nvSpPr>
          <p:spPr>
            <a:xfrm>
              <a:off x="0" y="-47625"/>
              <a:ext cx="103692" cy="27443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8" name="Google Shape;88;p1"/>
          <p:cNvSpPr/>
          <p:nvPr/>
        </p:nvSpPr>
        <p:spPr>
          <a:xfrm>
            <a:off x="17093636" y="8765286"/>
            <a:ext cx="636457" cy="312129"/>
          </a:xfrm>
          <a:custGeom>
            <a:avLst/>
            <a:gdLst/>
            <a:ahLst/>
            <a:cxnLst/>
            <a:rect l="l" t="t" r="r" b="b"/>
            <a:pathLst>
              <a:path w="636457" h="312129" extrusionOk="0">
                <a:moveTo>
                  <a:pt x="0" y="0"/>
                </a:moveTo>
                <a:lnTo>
                  <a:pt x="636457" y="0"/>
                </a:lnTo>
                <a:lnTo>
                  <a:pt x="636457" y="312129"/>
                </a:lnTo>
                <a:lnTo>
                  <a:pt x="0" y="312129"/>
                </a:lnTo>
                <a:lnTo>
                  <a:pt x="0" y="0"/>
                </a:lnTo>
                <a:close/>
              </a:path>
            </a:pathLst>
          </a:custGeom>
          <a:blipFill rotWithShape="1">
            <a:blip r:embed="rId10">
              <a:alphaModFix/>
            </a:blip>
            <a:stretch>
              <a:fillRect/>
            </a:stretch>
          </a:blipFill>
          <a:ln>
            <a:noFill/>
          </a:ln>
        </p:spPr>
        <p:txBody>
          <a:bodyPr/>
          <a:p/>
        </p:txBody>
      </p:sp>
      <p:grpSp>
        <p:nvGrpSpPr>
          <p:cNvPr id="89" name="Google Shape;89;p1"/>
          <p:cNvGrpSpPr/>
          <p:nvPr/>
        </p:nvGrpSpPr>
        <p:grpSpPr>
          <a:xfrm rot="5400000">
            <a:off x="14602455" y="-1388381"/>
            <a:ext cx="4599571" cy="4599571"/>
            <a:chOff x="0" y="0"/>
            <a:chExt cx="812800" cy="812800"/>
          </a:xfrm>
        </p:grpSpPr>
        <p:sp>
          <p:nvSpPr>
            <p:cNvPr id="90" name="Google Shape;90;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2" name="Google Shape;92;p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8">
              <a:alphaModFix/>
            </a:blip>
            <a:stretch>
              <a:fillRect/>
            </a:stretch>
          </a:blipFill>
          <a:ln>
            <a:noFill/>
          </a:ln>
        </p:spPr>
        <p:txBody>
          <a:bodyPr/>
          <a:p/>
        </p:txBody>
      </p:sp>
      <p:sp>
        <p:nvSpPr>
          <p:cNvPr id="93" name="Google Shape;93;p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94" name="Google Shape;94;p1"/>
          <p:cNvSpPr/>
          <p:nvPr/>
        </p:nvSpPr>
        <p:spPr>
          <a:xfrm>
            <a:off x="5486400" y="5143500"/>
            <a:ext cx="7315200" cy="185928"/>
          </a:xfrm>
          <a:custGeom>
            <a:avLst/>
            <a:gdLst/>
            <a:ahLst/>
            <a:cxnLst/>
            <a:rect l="l" t="t" r="r" b="b"/>
            <a:pathLst>
              <a:path w="7315200" h="185928" extrusionOk="0">
                <a:moveTo>
                  <a:pt x="0" y="0"/>
                </a:moveTo>
                <a:lnTo>
                  <a:pt x="7315200" y="0"/>
                </a:lnTo>
                <a:lnTo>
                  <a:pt x="7315200" y="185928"/>
                </a:lnTo>
                <a:lnTo>
                  <a:pt x="0" y="185928"/>
                </a:lnTo>
                <a:lnTo>
                  <a:pt x="0" y="0"/>
                </a:lnTo>
                <a:close/>
              </a:path>
            </a:pathLst>
          </a:custGeom>
          <a:blipFill rotWithShape="1">
            <a:blip r:embed="rId4">
              <a:alphaModFix/>
            </a:blip>
            <a:stretch>
              <a:fillRect/>
            </a:stretch>
          </a:blipFill>
          <a:ln>
            <a:noFill/>
          </a:ln>
        </p:spPr>
        <p:txBody>
          <a:bodyPr/>
          <a:p/>
        </p:txBody>
      </p:sp>
      <p:sp>
        <p:nvSpPr>
          <p:cNvPr id="96" name="Google Shape;96;p1"/>
          <p:cNvSpPr/>
          <p:nvPr/>
        </p:nvSpPr>
        <p:spPr>
          <a:xfrm>
            <a:off x="1167947" y="7023032"/>
            <a:ext cx="584911" cy="466467"/>
          </a:xfrm>
          <a:custGeom>
            <a:avLst/>
            <a:gdLst/>
            <a:ahLst/>
            <a:cxnLst/>
            <a:rect l="l" t="t" r="r" b="b"/>
            <a:pathLst>
              <a:path w="584911" h="466467" extrusionOk="0">
                <a:moveTo>
                  <a:pt x="0" y="0"/>
                </a:moveTo>
                <a:lnTo>
                  <a:pt x="584912" y="0"/>
                </a:lnTo>
                <a:lnTo>
                  <a:pt x="584912" y="466466"/>
                </a:lnTo>
                <a:lnTo>
                  <a:pt x="0" y="466466"/>
                </a:lnTo>
                <a:lnTo>
                  <a:pt x="0" y="0"/>
                </a:lnTo>
                <a:close/>
              </a:path>
            </a:pathLst>
          </a:custGeom>
          <a:blipFill rotWithShape="1">
            <a:blip r:embed="rId2">
              <a:alphaModFix/>
            </a:blip>
            <a:stretch>
              <a:fillRect/>
            </a:stretch>
          </a:blipFill>
          <a:ln>
            <a:noFill/>
          </a:ln>
        </p:spPr>
        <p:txBody>
          <a:bodyPr/>
          <a:p/>
        </p:txBody>
      </p:sp>
      <p:sp>
        <p:nvSpPr>
          <p:cNvPr id="97" name="Google Shape;97;p1"/>
          <p:cNvSpPr/>
          <p:nvPr/>
        </p:nvSpPr>
        <p:spPr>
          <a:xfrm>
            <a:off x="1167947" y="7951728"/>
            <a:ext cx="561989" cy="425004"/>
          </a:xfrm>
          <a:custGeom>
            <a:avLst/>
            <a:gdLst/>
            <a:ahLst/>
            <a:cxnLst/>
            <a:rect l="l" t="t" r="r" b="b"/>
            <a:pathLst>
              <a:path w="561989" h="425004" extrusionOk="0">
                <a:moveTo>
                  <a:pt x="0" y="0"/>
                </a:moveTo>
                <a:lnTo>
                  <a:pt x="561990" y="0"/>
                </a:lnTo>
                <a:lnTo>
                  <a:pt x="561990" y="425005"/>
                </a:lnTo>
                <a:lnTo>
                  <a:pt x="0" y="425005"/>
                </a:lnTo>
                <a:lnTo>
                  <a:pt x="0" y="0"/>
                </a:lnTo>
                <a:close/>
              </a:path>
            </a:pathLst>
          </a:custGeom>
          <a:blipFill rotWithShape="1">
            <a:blip r:embed="rId11">
              <a:alphaModFix/>
            </a:blip>
            <a:stretch>
              <a:fillRect/>
            </a:stretch>
          </a:blipFill>
          <a:ln>
            <a:noFill/>
          </a:ln>
        </p:spPr>
        <p:txBody>
          <a:bodyPr/>
          <a:p/>
        </p:txBody>
      </p:sp>
      <p:sp>
        <p:nvSpPr>
          <p:cNvPr id="98" name="Google Shape;98;p1"/>
          <p:cNvSpPr/>
          <p:nvPr/>
        </p:nvSpPr>
        <p:spPr>
          <a:xfrm>
            <a:off x="1253735" y="8706108"/>
            <a:ext cx="356164" cy="552192"/>
          </a:xfrm>
          <a:custGeom>
            <a:avLst/>
            <a:gdLst/>
            <a:ahLst/>
            <a:cxnLst/>
            <a:rect l="l" t="t" r="r" b="b"/>
            <a:pathLst>
              <a:path w="356164" h="552192" extrusionOk="0">
                <a:moveTo>
                  <a:pt x="0" y="0"/>
                </a:moveTo>
                <a:lnTo>
                  <a:pt x="356164" y="0"/>
                </a:lnTo>
                <a:lnTo>
                  <a:pt x="356164" y="552192"/>
                </a:lnTo>
                <a:lnTo>
                  <a:pt x="0" y="552192"/>
                </a:lnTo>
                <a:lnTo>
                  <a:pt x="0" y="0"/>
                </a:lnTo>
                <a:close/>
              </a:path>
            </a:pathLst>
          </a:custGeom>
          <a:blipFill rotWithShape="1">
            <a:blip r:embed="rId9">
              <a:alphaModFix/>
            </a:blip>
            <a:stretch>
              <a:fillRect/>
            </a:stretch>
          </a:blipFill>
          <a:ln>
            <a:noFill/>
          </a:ln>
        </p:spPr>
        <p:txBody>
          <a:bodyPr/>
          <a:p/>
        </p:txBody>
      </p:sp>
      <p:grpSp>
        <p:nvGrpSpPr>
          <p:cNvPr id="99" name="Google Shape;99;p1"/>
          <p:cNvGrpSpPr/>
          <p:nvPr/>
        </p:nvGrpSpPr>
        <p:grpSpPr>
          <a:xfrm>
            <a:off x="0" y="9382274"/>
            <a:ext cx="18294472" cy="904726"/>
            <a:chOff x="0" y="-47625"/>
            <a:chExt cx="5001389" cy="238282"/>
          </a:xfrm>
        </p:grpSpPr>
        <p:sp>
          <p:nvSpPr>
            <p:cNvPr id="100" name="Google Shape;100;p1"/>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01" name="Google Shape;101;p1"/>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2" name="Google Shape;102;p1"/>
          <p:cNvGrpSpPr/>
          <p:nvPr/>
        </p:nvGrpSpPr>
        <p:grpSpPr>
          <a:xfrm>
            <a:off x="8895465" y="9662418"/>
            <a:ext cx="497071" cy="497071"/>
            <a:chOff x="0" y="0"/>
            <a:chExt cx="812800" cy="812800"/>
          </a:xfrm>
        </p:grpSpPr>
        <p:sp>
          <p:nvSpPr>
            <p:cNvPr id="103" name="Google Shape;103;p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5" name="Google Shape;105;p1"/>
          <p:cNvSpPr/>
          <p:nvPr/>
        </p:nvSpPr>
        <p:spPr>
          <a:xfrm>
            <a:off x="13868399" y="6183888"/>
            <a:ext cx="3691585" cy="3379212"/>
          </a:xfrm>
          <a:custGeom>
            <a:avLst/>
            <a:gdLst/>
            <a:ahLst/>
            <a:cxnLst/>
            <a:rect l="l" t="t" r="r" b="b"/>
            <a:pathLst>
              <a:path w="5247142" h="5122522" extrusionOk="0">
                <a:moveTo>
                  <a:pt x="0" y="0"/>
                </a:moveTo>
                <a:lnTo>
                  <a:pt x="5247142" y="0"/>
                </a:lnTo>
                <a:lnTo>
                  <a:pt x="5247142" y="5122522"/>
                </a:lnTo>
                <a:lnTo>
                  <a:pt x="0" y="5122522"/>
                </a:lnTo>
                <a:lnTo>
                  <a:pt x="0" y="0"/>
                </a:lnTo>
                <a:close/>
              </a:path>
            </a:pathLst>
          </a:custGeom>
          <a:blipFill rotWithShape="1">
            <a:blip r:embed="rId7">
              <a:alphaModFix/>
            </a:blip>
            <a:stretch>
              <a:fillRect/>
            </a:stretch>
          </a:blipFill>
          <a:ln>
            <a:noFill/>
          </a:ln>
        </p:spPr>
        <p:txBody>
          <a:bodyPr/>
          <a:p/>
        </p:txBody>
      </p:sp>
      <p:grpSp>
        <p:nvGrpSpPr>
          <p:cNvPr id="106" name="Google Shape;106;p1"/>
          <p:cNvGrpSpPr/>
          <p:nvPr/>
        </p:nvGrpSpPr>
        <p:grpSpPr>
          <a:xfrm>
            <a:off x="17411864" y="9492448"/>
            <a:ext cx="882604" cy="780455"/>
            <a:chOff x="0" y="-47625"/>
            <a:chExt cx="743246" cy="657225"/>
          </a:xfrm>
        </p:grpSpPr>
        <p:sp>
          <p:nvSpPr>
            <p:cNvPr id="107" name="Google Shape;107;p1"/>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08" name="Google Shape;108;p1"/>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9" name="Google Shape;109;p1"/>
          <p:cNvSpPr txBox="1"/>
          <p:nvPr/>
        </p:nvSpPr>
        <p:spPr>
          <a:xfrm>
            <a:off x="1864602" y="2487301"/>
            <a:ext cx="14763085" cy="276998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000" b="1" dirty="0" smtClean="0">
                <a:solidFill>
                  <a:srgbClr val="FFFFFF"/>
                </a:solidFill>
                <a:latin typeface="+mj-lt"/>
                <a:ea typeface="Roboto"/>
                <a:sym typeface="Roboto"/>
              </a:rPr>
              <a:t>CHƯƠNG 5: KỸ THUẬT SOẠN THẢO VÀ TRÌNH BÀY VĂN BẢN TRONG KINH DOANH</a:t>
            </a:r>
            <a:endParaRPr dirty="0">
              <a:latin typeface="+mj-lt"/>
            </a:endParaRPr>
          </a:p>
        </p:txBody>
      </p:sp>
      <p:sp>
        <p:nvSpPr>
          <p:cNvPr id="110" name="Google Shape;110;p1"/>
          <p:cNvSpPr txBox="1"/>
          <p:nvPr/>
        </p:nvSpPr>
        <p:spPr>
          <a:xfrm>
            <a:off x="3250604" y="3848100"/>
            <a:ext cx="11351851" cy="301621"/>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endParaRPr dirty="0"/>
          </a:p>
        </p:txBody>
      </p:sp>
      <p:sp>
        <p:nvSpPr>
          <p:cNvPr id="112" name="Google Shape;112;p1"/>
          <p:cNvSpPr txBox="1"/>
          <p:nvPr/>
        </p:nvSpPr>
        <p:spPr>
          <a:xfrm>
            <a:off x="1990853" y="7039233"/>
            <a:ext cx="11430000" cy="581698"/>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dirty="0" err="1">
                <a:solidFill>
                  <a:srgbClr val="FFFFFF"/>
                </a:solidFill>
                <a:latin typeface="Roboto"/>
                <a:ea typeface="Roboto"/>
                <a:cs typeface="Roboto"/>
                <a:sym typeface="Roboto"/>
              </a:rPr>
              <a:t>Học phần: Kỹ năng giao tiếp và đàm phán trong kinh doanh (EC6035TX)</a:t>
            </a:r>
            <a:endParaRPr dirty="0"/>
          </a:p>
        </p:txBody>
      </p:sp>
      <p:sp>
        <p:nvSpPr>
          <p:cNvPr id="113" name="Google Shape;113;p1"/>
          <p:cNvSpPr txBox="1"/>
          <p:nvPr/>
        </p:nvSpPr>
        <p:spPr>
          <a:xfrm>
            <a:off x="1990853" y="7894578"/>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Khoa: Kinh doanh và Luật</a:t>
            </a:r>
            <a:endParaRPr/>
          </a:p>
        </p:txBody>
      </p:sp>
      <p:sp>
        <p:nvSpPr>
          <p:cNvPr id="114" name="Google Shape;114;p1"/>
          <p:cNvSpPr txBox="1"/>
          <p:nvPr/>
        </p:nvSpPr>
        <p:spPr>
          <a:xfrm>
            <a:off x="1990853" y="8749923"/>
            <a:ext cx="9058764" cy="46482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Trường Đại học Công nghệ Kỹ thuật Vĩnh Long</a:t>
            </a:r>
            <a:endParaRPr/>
          </a:p>
        </p:txBody>
      </p:sp>
      <p:sp>
        <p:nvSpPr>
          <p:cNvPr id="115" name="Google Shape;115;p1"/>
          <p:cNvSpPr txBox="1"/>
          <p:nvPr/>
        </p:nvSpPr>
        <p:spPr>
          <a:xfrm>
            <a:off x="8842248" y="96052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1</a:t>
            </a:r>
            <a:endParaRPr/>
          </a:p>
        </p:txBody>
      </p:sp>
      <p:sp>
        <p:nvSpPr>
          <p:cNvPr id="116" name="Google Shape;116;p1"/>
          <p:cNvSpPr txBox="1"/>
          <p:nvPr/>
        </p:nvSpPr>
        <p:spPr>
          <a:xfrm>
            <a:off x="612388" y="9702991"/>
            <a:ext cx="9058764"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sp>
        <p:nvSpPr>
          <p:cNvPr id="117" name="Google Shape;117;p1"/>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TRƯỜNG ĐẠI HỌC CÔNG NGHỆ KỸ THUẬT VĨNH LONG</a:t>
            </a:r>
            <a:endParaRPr sz="2700" b="1" i="0" u="none" strike="noStrike" cap="none">
              <a:solidFill>
                <a:schemeClr val="lt1"/>
              </a:solidFill>
              <a:latin typeface="Roboto"/>
              <a:ea typeface="Roboto"/>
              <a:cs typeface="Roboto"/>
              <a:sym typeface="Roboto"/>
            </a:endParaRPr>
          </a:p>
        </p:txBody>
      </p:sp>
      <p:sp>
        <p:nvSpPr>
          <p:cNvPr id="118" name="Google Shape;118;p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chemeClr val="lt1"/>
                </a:solidFill>
                <a:latin typeface="Roboto"/>
                <a:ea typeface="Roboto"/>
                <a:cs typeface="Roboto"/>
                <a:sym typeface="Roboto"/>
              </a:rPr>
              <a:t>KHOA KINH DOANH VÀ LUẬT</a:t>
            </a:r>
            <a:endParaRPr/>
          </a:p>
        </p:txBody>
      </p:sp>
      <p:sp>
        <p:nvSpPr>
          <p:cNvPr id="119" name="Google Shape;119;p1"/>
          <p:cNvSpPr/>
          <p:nvPr/>
        </p:nvSpPr>
        <p:spPr>
          <a:xfrm>
            <a:off x="-34274" y="-34151"/>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5">
              <a:alphaModFix/>
            </a:blip>
            <a:stretch>
              <a:fillRect/>
            </a:stretch>
          </a:blipFill>
          <a:ln>
            <a:noFill/>
          </a:ln>
        </p:spPr>
        <p:txBody>
          <a:body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24" name="Google Shape;124;p2"/>
          <p:cNvGrpSpPr/>
          <p:nvPr/>
        </p:nvGrpSpPr>
        <p:grpSpPr>
          <a:xfrm>
            <a:off x="0" y="9382274"/>
            <a:ext cx="18288004" cy="904726"/>
            <a:chOff x="0" y="-47625"/>
            <a:chExt cx="5001389" cy="238282"/>
          </a:xfrm>
        </p:grpSpPr>
        <p:sp>
          <p:nvSpPr>
            <p:cNvPr id="125" name="Google Shape;125;p2"/>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26" name="Google Shape;126;p2"/>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7" name="Google Shape;127;p2"/>
          <p:cNvGrpSpPr/>
          <p:nvPr/>
        </p:nvGrpSpPr>
        <p:grpSpPr>
          <a:xfrm>
            <a:off x="8895465" y="9662418"/>
            <a:ext cx="497071" cy="497071"/>
            <a:chOff x="0" y="0"/>
            <a:chExt cx="812800" cy="812800"/>
          </a:xfrm>
        </p:grpSpPr>
        <p:sp>
          <p:nvSpPr>
            <p:cNvPr id="128" name="Google Shape;128;p2"/>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2"/>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0" name="Google Shape;130;p2"/>
          <p:cNvGrpSpPr/>
          <p:nvPr/>
        </p:nvGrpSpPr>
        <p:grpSpPr>
          <a:xfrm>
            <a:off x="3962400" y="1044402"/>
            <a:ext cx="10820400" cy="1457539"/>
            <a:chOff x="0" y="-47625"/>
            <a:chExt cx="2140304" cy="383879"/>
          </a:xfrm>
        </p:grpSpPr>
        <p:sp>
          <p:nvSpPr>
            <p:cNvPr id="131" name="Google Shape;131;p2"/>
            <p:cNvSpPr/>
            <p:nvPr/>
          </p:nvSpPr>
          <p:spPr>
            <a:xfrm>
              <a:off x="0" y="0"/>
              <a:ext cx="2140304" cy="336254"/>
            </a:xfrm>
            <a:custGeom>
              <a:avLst/>
              <a:gdLst/>
              <a:ahLst/>
              <a:cxnLst/>
              <a:rect l="l" t="t" r="r" b="b"/>
              <a:pathLst>
                <a:path w="2140304" h="336254" extrusionOk="0">
                  <a:moveTo>
                    <a:pt x="16196" y="0"/>
                  </a:moveTo>
                  <a:lnTo>
                    <a:pt x="2124108" y="0"/>
                  </a:lnTo>
                  <a:cubicBezTo>
                    <a:pt x="2128403" y="0"/>
                    <a:pt x="2132523" y="1706"/>
                    <a:pt x="2135560" y="4744"/>
                  </a:cubicBezTo>
                  <a:cubicBezTo>
                    <a:pt x="2138597" y="7781"/>
                    <a:pt x="2140304" y="11900"/>
                    <a:pt x="2140304" y="16196"/>
                  </a:cubicBezTo>
                  <a:lnTo>
                    <a:pt x="2140304" y="320058"/>
                  </a:lnTo>
                  <a:cubicBezTo>
                    <a:pt x="2140304" y="324353"/>
                    <a:pt x="2138597" y="328473"/>
                    <a:pt x="2135560" y="331510"/>
                  </a:cubicBezTo>
                  <a:cubicBezTo>
                    <a:pt x="2132523" y="334547"/>
                    <a:pt x="2128403" y="336254"/>
                    <a:pt x="2124108" y="336254"/>
                  </a:cubicBezTo>
                  <a:lnTo>
                    <a:pt x="16196" y="336254"/>
                  </a:lnTo>
                  <a:cubicBezTo>
                    <a:pt x="7251" y="336254"/>
                    <a:pt x="0" y="329003"/>
                    <a:pt x="0" y="320058"/>
                  </a:cubicBezTo>
                  <a:lnTo>
                    <a:pt x="0" y="16196"/>
                  </a:lnTo>
                  <a:cubicBezTo>
                    <a:pt x="0" y="11900"/>
                    <a:pt x="1706" y="7781"/>
                    <a:pt x="4744" y="4744"/>
                  </a:cubicBezTo>
                  <a:cubicBezTo>
                    <a:pt x="7781" y="1706"/>
                    <a:pt x="11900" y="0"/>
                    <a:pt x="16196"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txBox="1"/>
            <p:nvPr/>
          </p:nvSpPr>
          <p:spPr>
            <a:xfrm>
              <a:off x="0" y="-47625"/>
              <a:ext cx="2140304"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33" name="Google Shape;133;p2"/>
          <p:cNvSpPr/>
          <p:nvPr/>
        </p:nvSpPr>
        <p:spPr>
          <a:xfrm>
            <a:off x="4326519" y="1394670"/>
            <a:ext cx="904060" cy="857727"/>
          </a:xfrm>
          <a:custGeom>
            <a:avLst/>
            <a:gdLst/>
            <a:ahLst/>
            <a:cxnLst/>
            <a:rect l="l" t="t" r="r" b="b"/>
            <a:pathLst>
              <a:path w="904060" h="857727" extrusionOk="0">
                <a:moveTo>
                  <a:pt x="0" y="0"/>
                </a:moveTo>
                <a:lnTo>
                  <a:pt x="904060" y="0"/>
                </a:lnTo>
                <a:lnTo>
                  <a:pt x="904060" y="857727"/>
                </a:lnTo>
                <a:lnTo>
                  <a:pt x="0" y="857727"/>
                </a:lnTo>
                <a:lnTo>
                  <a:pt x="0" y="0"/>
                </a:lnTo>
                <a:close/>
              </a:path>
            </a:pathLst>
          </a:custGeom>
          <a:blipFill rotWithShape="1">
            <a:blip r:embed="rId2">
              <a:alphaModFix/>
            </a:blip>
            <a:stretch>
              <a:fillRect/>
            </a:stretch>
          </a:blipFill>
          <a:ln>
            <a:noFill/>
          </a:ln>
        </p:spPr>
        <p:txBody>
          <a:bodyPr/>
          <a:p/>
        </p:txBody>
      </p:sp>
      <p:sp>
        <p:nvSpPr>
          <p:cNvPr id="134" name="Google Shape;134;p2"/>
          <p:cNvSpPr/>
          <p:nvPr/>
        </p:nvSpPr>
        <p:spPr>
          <a:xfrm>
            <a:off x="1603725" y="4462563"/>
            <a:ext cx="638459" cy="638459"/>
          </a:xfrm>
          <a:custGeom>
            <a:avLst/>
            <a:gdLst/>
            <a:ahLst/>
            <a:cxnLst/>
            <a:rect l="l" t="t" r="r" b="b"/>
            <a:pathLst>
              <a:path w="638459" h="638459" extrusionOk="0">
                <a:moveTo>
                  <a:pt x="0" y="0"/>
                </a:moveTo>
                <a:lnTo>
                  <a:pt x="638459" y="0"/>
                </a:lnTo>
                <a:lnTo>
                  <a:pt x="638459" y="638458"/>
                </a:lnTo>
                <a:lnTo>
                  <a:pt x="0" y="638458"/>
                </a:lnTo>
                <a:lnTo>
                  <a:pt x="0" y="0"/>
                </a:lnTo>
                <a:close/>
              </a:path>
            </a:pathLst>
          </a:custGeom>
          <a:blipFill rotWithShape="1">
            <a:blip r:embed="rId5">
              <a:alphaModFix/>
            </a:blip>
            <a:stretch>
              <a:fillRect/>
            </a:stretch>
          </a:blipFill>
          <a:ln>
            <a:noFill/>
          </a:ln>
        </p:spPr>
        <p:txBody>
          <a:bodyPr/>
          <a:p/>
        </p:txBody>
      </p:sp>
      <p:cxnSp>
        <p:nvCxnSpPr>
          <p:cNvPr id="135" name="Google Shape;135;p2"/>
          <p:cNvCxnSpPr/>
          <p:nvPr/>
        </p:nvCxnSpPr>
        <p:spPr>
          <a:xfrm>
            <a:off x="5897880" y="2781300"/>
            <a:ext cx="6492240" cy="0"/>
          </a:xfrm>
          <a:prstGeom prst="straightConnector1">
            <a:avLst/>
          </a:prstGeom>
          <a:noFill/>
          <a:ln w="85725" cap="flat" cmpd="sng">
            <a:solidFill>
              <a:srgbClr val="FCEE7B"/>
            </a:solidFill>
            <a:prstDash val="solid"/>
            <a:round/>
            <a:headEnd type="none" w="sm" len="sm"/>
            <a:tailEnd type="none" w="sm" len="sm"/>
          </a:ln>
        </p:spPr>
      </p:cxnSp>
      <p:cxnSp>
        <p:nvCxnSpPr>
          <p:cNvPr id="136" name="Google Shape;136;p2"/>
          <p:cNvCxnSpPr/>
          <p:nvPr/>
        </p:nvCxnSpPr>
        <p:spPr>
          <a:xfrm>
            <a:off x="9144000" y="4223917"/>
            <a:ext cx="0" cy="4576651"/>
          </a:xfrm>
          <a:prstGeom prst="straightConnector1">
            <a:avLst/>
          </a:prstGeom>
          <a:noFill/>
          <a:ln w="38100" cap="flat" cmpd="sng">
            <a:solidFill>
              <a:srgbClr val="808080"/>
            </a:solidFill>
            <a:prstDash val="solid"/>
            <a:round/>
            <a:headEnd type="none" w="sm" len="sm"/>
            <a:tailEnd type="none" w="sm" len="sm"/>
          </a:ln>
        </p:spPr>
      </p:cxnSp>
      <p:sp>
        <p:nvSpPr>
          <p:cNvPr id="137" name="Google Shape;137;p2"/>
          <p:cNvSpPr/>
          <p:nvPr/>
        </p:nvSpPr>
        <p:spPr>
          <a:xfrm>
            <a:off x="1603725" y="5434798"/>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8" name="Google Shape;138;p2"/>
          <p:cNvSpPr/>
          <p:nvPr/>
        </p:nvSpPr>
        <p:spPr>
          <a:xfrm>
            <a:off x="1603725" y="6406632"/>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39" name="Google Shape;139;p2"/>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2</a:t>
            </a:r>
            <a:endParaRPr/>
          </a:p>
        </p:txBody>
      </p:sp>
      <p:sp>
        <p:nvSpPr>
          <p:cNvPr id="140" name="Google Shape;140;p2"/>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sp>
        <p:nvSpPr>
          <p:cNvPr id="141" name="Google Shape;141;p2"/>
          <p:cNvSpPr txBox="1"/>
          <p:nvPr/>
        </p:nvSpPr>
        <p:spPr>
          <a:xfrm>
            <a:off x="5410200" y="1444484"/>
            <a:ext cx="9906000"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MỤC TIÊU CHƯƠNG 5</a:t>
            </a:r>
            <a:endParaRPr sz="5000" b="1" i="0" u="none" strike="noStrike" cap="none">
              <a:solidFill>
                <a:srgbClr val="FFFFFF"/>
              </a:solidFill>
              <a:latin typeface="Roboto"/>
              <a:ea typeface="Roboto"/>
              <a:cs typeface="Roboto"/>
              <a:sym typeface="Roboto"/>
            </a:endParaRPr>
          </a:p>
        </p:txBody>
      </p:sp>
      <p:sp>
        <p:nvSpPr>
          <p:cNvPr id="142" name="Google Shape;142;p2"/>
          <p:cNvSpPr txBox="1"/>
          <p:nvPr/>
        </p:nvSpPr>
        <p:spPr>
          <a:xfrm>
            <a:off x="2506246" y="4494859"/>
            <a:ext cx="5065776"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000000"/>
                </a:solidFill>
                <a:latin typeface="Roboto"/>
                <a:ea typeface="Roboto"/>
                <a:cs typeface="Roboto"/>
                <a:sym typeface="Roboto"/>
              </a:rPr>
              <a:t>Phân biệt được các nhóm văn bản</a:t>
            </a:r>
            <a:endParaRPr/>
          </a:p>
        </p:txBody>
      </p:sp>
      <p:sp>
        <p:nvSpPr>
          <p:cNvPr id="143" name="Google Shape;143;p2"/>
          <p:cNvSpPr txBox="1"/>
          <p:nvPr/>
        </p:nvSpPr>
        <p:spPr>
          <a:xfrm>
            <a:off x="2506246" y="5473993"/>
            <a:ext cx="5065776"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000000"/>
                </a:solidFill>
                <a:latin typeface="Roboto"/>
                <a:ea typeface="Roboto"/>
                <a:cs typeface="Roboto"/>
                <a:sym typeface="Roboto"/>
              </a:rPr>
              <a:t>Nắm vững thể thức theo Nghị định 30</a:t>
            </a:r>
            <a:endParaRPr/>
          </a:p>
        </p:txBody>
      </p:sp>
      <p:sp>
        <p:nvSpPr>
          <p:cNvPr id="144" name="Google Shape;144;p2"/>
          <p:cNvSpPr txBox="1"/>
          <p:nvPr/>
        </p:nvSpPr>
        <p:spPr>
          <a:xfrm>
            <a:off x="2506246" y="6445827"/>
            <a:ext cx="5065776"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000000"/>
                </a:solidFill>
                <a:latin typeface="Roboto"/>
                <a:ea typeface="Roboto"/>
                <a:cs typeface="Roboto"/>
                <a:sym typeface="Roboto"/>
              </a:rPr>
              <a:t>Soạn thảo được văn bản hành chính</a:t>
            </a:r>
            <a:endParaRPr/>
          </a:p>
        </p:txBody>
      </p:sp>
      <p:sp>
        <p:nvSpPr>
          <p:cNvPr id="145" name="Google Shape;145;p2"/>
          <p:cNvSpPr/>
          <p:nvPr/>
        </p:nvSpPr>
        <p:spPr>
          <a:xfrm>
            <a:off x="1603725" y="7378466"/>
            <a:ext cx="638459" cy="638459"/>
          </a:xfrm>
          <a:custGeom>
            <a:avLst/>
            <a:gdLst/>
            <a:ahLst/>
            <a:cxnLst/>
            <a:rect l="l" t="t" r="r" b="b"/>
            <a:pathLst>
              <a:path w="638459" h="638459" extrusionOk="0">
                <a:moveTo>
                  <a:pt x="0" y="0"/>
                </a:moveTo>
                <a:lnTo>
                  <a:pt x="638459" y="0"/>
                </a:lnTo>
                <a:lnTo>
                  <a:pt x="638459" y="638459"/>
                </a:lnTo>
                <a:lnTo>
                  <a:pt x="0" y="638459"/>
                </a:lnTo>
                <a:lnTo>
                  <a:pt x="0" y="0"/>
                </a:lnTo>
                <a:close/>
              </a:path>
            </a:pathLst>
          </a:custGeom>
          <a:blipFill rotWithShape="1">
            <a:blip r:embed="rId5">
              <a:alphaModFix/>
            </a:blip>
            <a:stretch>
              <a:fillRect/>
            </a:stretch>
          </a:blipFill>
          <a:ln>
            <a:noFill/>
          </a:ln>
        </p:spPr>
        <p:txBody>
          <a:bodyPr/>
          <a:p/>
        </p:txBody>
      </p:sp>
      <p:sp>
        <p:nvSpPr>
          <p:cNvPr id="146" name="Google Shape;146;p2"/>
          <p:cNvSpPr txBox="1"/>
          <p:nvPr/>
        </p:nvSpPr>
        <p:spPr>
          <a:xfrm>
            <a:off x="2506246" y="7424996"/>
            <a:ext cx="5065776" cy="1066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100" b="0" i="0" u="none" strike="noStrike" cap="none">
                <a:solidFill>
                  <a:srgbClr val="000000"/>
                </a:solidFill>
                <a:latin typeface="Roboto"/>
                <a:ea typeface="Roboto"/>
                <a:cs typeface="Roboto"/>
                <a:sym typeface="Roboto"/>
              </a:rPr>
              <a:t>Soạn hợp đồng và dùng công cụ số</a:t>
            </a:r>
            <a:endParaRPr/>
          </a:p>
        </p:txBody>
      </p:sp>
      <p:sp>
        <p:nvSpPr>
          <p:cNvPr id="147" name="Google Shape;147;p2"/>
          <p:cNvSpPr/>
          <p:nvPr/>
        </p:nvSpPr>
        <p:spPr>
          <a:xfrm>
            <a:off x="10043901" y="4060809"/>
            <a:ext cx="7120190" cy="4930732"/>
          </a:xfrm>
          <a:custGeom>
            <a:avLst/>
            <a:gdLst/>
            <a:ahLst/>
            <a:cxnLst/>
            <a:rect l="l" t="t" r="r" b="b"/>
            <a:pathLst>
              <a:path w="7120190" h="4930732" extrusionOk="0">
                <a:moveTo>
                  <a:pt x="0" y="0"/>
                </a:moveTo>
                <a:lnTo>
                  <a:pt x="7120190" y="0"/>
                </a:lnTo>
                <a:lnTo>
                  <a:pt x="7120190" y="4930732"/>
                </a:lnTo>
                <a:lnTo>
                  <a:pt x="0" y="4930732"/>
                </a:lnTo>
                <a:lnTo>
                  <a:pt x="0" y="0"/>
                </a:lnTo>
                <a:close/>
              </a:path>
            </a:pathLst>
          </a:custGeom>
          <a:blipFill rotWithShape="1">
            <a:blip r:embed="rId4">
              <a:alphaModFix/>
            </a:blip>
            <a:stretch>
              <a:fillRect/>
            </a:stretch>
          </a:blipFill>
          <a:ln>
            <a:noFill/>
          </a:ln>
        </p:spPr>
        <p:txBody>
          <a:bodyPr/>
          <a:p/>
        </p:txBody>
      </p:sp>
      <p:grpSp>
        <p:nvGrpSpPr>
          <p:cNvPr id="148" name="Google Shape;148;p2"/>
          <p:cNvGrpSpPr/>
          <p:nvPr/>
        </p:nvGrpSpPr>
        <p:grpSpPr>
          <a:xfrm>
            <a:off x="17411864" y="9492448"/>
            <a:ext cx="882604" cy="780455"/>
            <a:chOff x="0" y="-47625"/>
            <a:chExt cx="743246" cy="657225"/>
          </a:xfrm>
        </p:grpSpPr>
        <p:sp>
          <p:nvSpPr>
            <p:cNvPr id="149" name="Google Shape;149;p2"/>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150" name="Google Shape;150;p2"/>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51" name="Google Shape;151;p2"/>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152" name="Google Shape;152;p2"/>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
        <p:nvSpPr>
          <p:cNvPr id="153" name="Google Shape;153;p2"/>
          <p:cNvSpPr/>
          <p:nvPr/>
        </p:nvSpPr>
        <p:spPr>
          <a:xfrm>
            <a:off x="59209" y="0"/>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58" name="Google Shape;158;p3"/>
          <p:cNvGrpSpPr/>
          <p:nvPr/>
        </p:nvGrpSpPr>
        <p:grpSpPr>
          <a:xfrm>
            <a:off x="0" y="9382274"/>
            <a:ext cx="18294472" cy="904726"/>
            <a:chOff x="0" y="-47625"/>
            <a:chExt cx="5001389" cy="238282"/>
          </a:xfrm>
        </p:grpSpPr>
        <p:sp>
          <p:nvSpPr>
            <p:cNvPr id="159" name="Google Shape;159;p3"/>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160" name="Google Shape;160;p3"/>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1" name="Google Shape;161;p3"/>
          <p:cNvGrpSpPr/>
          <p:nvPr/>
        </p:nvGrpSpPr>
        <p:grpSpPr>
          <a:xfrm>
            <a:off x="8895465" y="9662418"/>
            <a:ext cx="497071" cy="497071"/>
            <a:chOff x="0" y="0"/>
            <a:chExt cx="812800" cy="812800"/>
          </a:xfrm>
        </p:grpSpPr>
        <p:sp>
          <p:nvSpPr>
            <p:cNvPr id="162" name="Google Shape;162;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64" name="Google Shape;164;p3"/>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grpSp>
        <p:nvGrpSpPr>
          <p:cNvPr id="165" name="Google Shape;165;p3"/>
          <p:cNvGrpSpPr/>
          <p:nvPr/>
        </p:nvGrpSpPr>
        <p:grpSpPr>
          <a:xfrm rot="-5400000">
            <a:off x="16208572" y="599911"/>
            <a:ext cx="1360170" cy="1302075"/>
            <a:chOff x="0" y="-47625"/>
            <a:chExt cx="514082" cy="492125"/>
          </a:xfrm>
        </p:grpSpPr>
        <p:sp>
          <p:nvSpPr>
            <p:cNvPr id="166" name="Google Shape;166;p3"/>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8" name="Google Shape;168;p3"/>
          <p:cNvGrpSpPr/>
          <p:nvPr/>
        </p:nvGrpSpPr>
        <p:grpSpPr>
          <a:xfrm>
            <a:off x="3883202" y="1255649"/>
            <a:ext cx="11280598" cy="1457539"/>
            <a:chOff x="-137192" y="-47625"/>
            <a:chExt cx="2467893" cy="383879"/>
          </a:xfrm>
        </p:grpSpPr>
        <p:sp>
          <p:nvSpPr>
            <p:cNvPr id="169" name="Google Shape;169;p3"/>
            <p:cNvSpPr/>
            <p:nvPr/>
          </p:nvSpPr>
          <p:spPr>
            <a:xfrm>
              <a:off x="-137192" y="0"/>
              <a:ext cx="2467893"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3"/>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171" name="Google Shape;171;p3"/>
          <p:cNvCxnSpPr/>
          <p:nvPr/>
        </p:nvCxnSpPr>
        <p:spPr>
          <a:xfrm>
            <a:off x="6146416" y="2933700"/>
            <a:ext cx="6492240" cy="0"/>
          </a:xfrm>
          <a:prstGeom prst="straightConnector1">
            <a:avLst/>
          </a:prstGeom>
          <a:noFill/>
          <a:ln w="85725" cap="flat" cmpd="sng">
            <a:solidFill>
              <a:srgbClr val="FCEE7B"/>
            </a:solidFill>
            <a:prstDash val="solid"/>
            <a:round/>
            <a:headEnd type="none" w="sm" len="sm"/>
            <a:tailEnd type="none" w="sm" len="sm"/>
          </a:ln>
        </p:spPr>
      </p:cxnSp>
      <p:sp>
        <p:nvSpPr>
          <p:cNvPr id="172" name="Google Shape;172;p3"/>
          <p:cNvSpPr/>
          <p:nvPr/>
        </p:nvSpPr>
        <p:spPr>
          <a:xfrm>
            <a:off x="4171991" y="1658458"/>
            <a:ext cx="1009452" cy="716711"/>
          </a:xfrm>
          <a:custGeom>
            <a:avLst/>
            <a:gdLst/>
            <a:ahLst/>
            <a:cxnLst/>
            <a:rect l="l" t="t" r="r" b="b"/>
            <a:pathLst>
              <a:path w="1009452" h="716711" extrusionOk="0">
                <a:moveTo>
                  <a:pt x="0" y="0"/>
                </a:moveTo>
                <a:lnTo>
                  <a:pt x="1009452" y="0"/>
                </a:lnTo>
                <a:lnTo>
                  <a:pt x="1009452" y="716711"/>
                </a:lnTo>
                <a:lnTo>
                  <a:pt x="0" y="716711"/>
                </a:lnTo>
                <a:lnTo>
                  <a:pt x="0" y="0"/>
                </a:lnTo>
                <a:close/>
              </a:path>
            </a:pathLst>
          </a:custGeom>
          <a:blipFill rotWithShape="1">
            <a:blip r:embed="rId4">
              <a:alphaModFix/>
            </a:blip>
            <a:stretch>
              <a:fillRect/>
            </a:stretch>
          </a:blipFill>
          <a:ln>
            <a:noFill/>
          </a:ln>
        </p:spPr>
        <p:txBody>
          <a:bodyPr/>
          <a:p/>
        </p:txBody>
      </p:sp>
      <p:grpSp>
        <p:nvGrpSpPr>
          <p:cNvPr id="173" name="Google Shape;173;p3"/>
          <p:cNvGrpSpPr/>
          <p:nvPr/>
        </p:nvGrpSpPr>
        <p:grpSpPr>
          <a:xfrm>
            <a:off x="1451168" y="3873784"/>
            <a:ext cx="688429" cy="688429"/>
            <a:chOff x="0" y="0"/>
            <a:chExt cx="812800" cy="812800"/>
          </a:xfrm>
        </p:grpSpPr>
        <p:sp>
          <p:nvSpPr>
            <p:cNvPr id="174" name="Google Shape;174;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6" name="Google Shape;176;p3"/>
          <p:cNvGrpSpPr/>
          <p:nvPr/>
        </p:nvGrpSpPr>
        <p:grpSpPr>
          <a:xfrm>
            <a:off x="1475996" y="4982975"/>
            <a:ext cx="688429" cy="688429"/>
            <a:chOff x="0" y="0"/>
            <a:chExt cx="812800" cy="812800"/>
          </a:xfrm>
        </p:grpSpPr>
        <p:sp>
          <p:nvSpPr>
            <p:cNvPr id="177" name="Google Shape;177;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9" name="Google Shape;179;p3"/>
          <p:cNvGrpSpPr/>
          <p:nvPr/>
        </p:nvGrpSpPr>
        <p:grpSpPr>
          <a:xfrm>
            <a:off x="1522086" y="6134690"/>
            <a:ext cx="688429" cy="688429"/>
            <a:chOff x="0" y="0"/>
            <a:chExt cx="812800" cy="812800"/>
          </a:xfrm>
        </p:grpSpPr>
        <p:sp>
          <p:nvSpPr>
            <p:cNvPr id="180" name="Google Shape;180;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2" name="Google Shape;182;p3"/>
          <p:cNvGrpSpPr/>
          <p:nvPr/>
        </p:nvGrpSpPr>
        <p:grpSpPr>
          <a:xfrm>
            <a:off x="1522086" y="7289845"/>
            <a:ext cx="688429" cy="688429"/>
            <a:chOff x="0" y="0"/>
            <a:chExt cx="812800" cy="812800"/>
          </a:xfrm>
        </p:grpSpPr>
        <p:sp>
          <p:nvSpPr>
            <p:cNvPr id="183" name="Google Shape;183;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5" name="Google Shape;185;p3"/>
          <p:cNvGrpSpPr/>
          <p:nvPr/>
        </p:nvGrpSpPr>
        <p:grpSpPr>
          <a:xfrm>
            <a:off x="1522086" y="8483099"/>
            <a:ext cx="688429" cy="688429"/>
            <a:chOff x="0" y="0"/>
            <a:chExt cx="812800" cy="812800"/>
          </a:xfrm>
        </p:grpSpPr>
        <p:sp>
          <p:nvSpPr>
            <p:cNvPr id="186" name="Google Shape;186;p3"/>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B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3"/>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88" name="Google Shape;188;p3"/>
          <p:cNvSpPr/>
          <p:nvPr/>
        </p:nvSpPr>
        <p:spPr>
          <a:xfrm>
            <a:off x="10043901" y="4157032"/>
            <a:ext cx="7554796" cy="5014496"/>
          </a:xfrm>
          <a:custGeom>
            <a:avLst/>
            <a:gdLst/>
            <a:ahLst/>
            <a:cxnLst/>
            <a:rect l="l" t="t" r="r" b="b"/>
            <a:pathLst>
              <a:path w="7554796" h="5014496" extrusionOk="0">
                <a:moveTo>
                  <a:pt x="0" y="0"/>
                </a:moveTo>
                <a:lnTo>
                  <a:pt x="7554795" y="0"/>
                </a:lnTo>
                <a:lnTo>
                  <a:pt x="7554795" y="5014496"/>
                </a:lnTo>
                <a:lnTo>
                  <a:pt x="0" y="5014496"/>
                </a:lnTo>
                <a:lnTo>
                  <a:pt x="0" y="0"/>
                </a:lnTo>
                <a:close/>
              </a:path>
            </a:pathLst>
          </a:custGeom>
          <a:blipFill rotWithShape="1">
            <a:blip r:embed="rId3">
              <a:alphaModFix/>
            </a:blip>
            <a:stretch>
              <a:fillRect/>
            </a:stretch>
          </a:blipFill>
          <a:ln>
            <a:noFill/>
          </a:ln>
        </p:spPr>
        <p:txBody>
          <a:bodyPr/>
          <a:p/>
        </p:txBody>
      </p:sp>
      <p:sp>
        <p:nvSpPr>
          <p:cNvPr id="189" name="Google Shape;189;p3"/>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3</a:t>
            </a:r>
            <a:endParaRPr/>
          </a:p>
        </p:txBody>
      </p:sp>
      <p:sp>
        <p:nvSpPr>
          <p:cNvPr id="190" name="Google Shape;190;p3"/>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sp>
        <p:nvSpPr>
          <p:cNvPr id="191" name="Google Shape;191;p3"/>
          <p:cNvSpPr txBox="1"/>
          <p:nvPr/>
        </p:nvSpPr>
        <p:spPr>
          <a:xfrm>
            <a:off x="5519751" y="1619706"/>
            <a:ext cx="10453766" cy="807913"/>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NỘI DUNG CHƯƠNG 5</a:t>
            </a:r>
            <a:endParaRPr sz="5000" b="1" i="0" u="none" strike="noStrike" cap="none">
              <a:solidFill>
                <a:srgbClr val="FFFFFF"/>
              </a:solidFill>
              <a:latin typeface="Roboto"/>
              <a:ea typeface="Roboto"/>
              <a:cs typeface="Roboto"/>
              <a:sym typeface="Roboto"/>
            </a:endParaRPr>
          </a:p>
        </p:txBody>
      </p:sp>
      <p:sp>
        <p:nvSpPr>
          <p:cNvPr id="192" name="Google Shape;192;p3"/>
          <p:cNvSpPr txBox="1"/>
          <p:nvPr/>
        </p:nvSpPr>
        <p:spPr>
          <a:xfrm>
            <a:off x="1607633" y="3885650"/>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1</a:t>
            </a:r>
            <a:endParaRPr/>
          </a:p>
        </p:txBody>
      </p:sp>
      <p:sp>
        <p:nvSpPr>
          <p:cNvPr id="193" name="Google Shape;193;p3"/>
          <p:cNvSpPr txBox="1"/>
          <p:nvPr/>
        </p:nvSpPr>
        <p:spPr>
          <a:xfrm>
            <a:off x="2532103" y="3992766"/>
            <a:ext cx="5061503"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000000"/>
                </a:solidFill>
                <a:latin typeface="Roboto"/>
                <a:ea typeface="Roboto"/>
                <a:cs typeface="Roboto"/>
                <a:sym typeface="Roboto"/>
              </a:rPr>
              <a:t>5.1. Khái niệm và phân loại văn bản</a:t>
            </a:r>
            <a:endParaRPr/>
          </a:p>
        </p:txBody>
      </p:sp>
      <p:sp>
        <p:nvSpPr>
          <p:cNvPr id="194" name="Google Shape;194;p3"/>
          <p:cNvSpPr txBox="1"/>
          <p:nvPr/>
        </p:nvSpPr>
        <p:spPr>
          <a:xfrm>
            <a:off x="1632461" y="4994841"/>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2</a:t>
            </a:r>
            <a:endParaRPr/>
          </a:p>
        </p:txBody>
      </p:sp>
      <p:sp>
        <p:nvSpPr>
          <p:cNvPr id="195" name="Google Shape;195;p3"/>
          <p:cNvSpPr txBox="1"/>
          <p:nvPr/>
        </p:nvSpPr>
        <p:spPr>
          <a:xfrm>
            <a:off x="1678551" y="6146556"/>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3</a:t>
            </a:r>
            <a:endParaRPr/>
          </a:p>
        </p:txBody>
      </p:sp>
      <p:sp>
        <p:nvSpPr>
          <p:cNvPr id="196" name="Google Shape;196;p3"/>
          <p:cNvSpPr txBox="1"/>
          <p:nvPr/>
        </p:nvSpPr>
        <p:spPr>
          <a:xfrm>
            <a:off x="1678551" y="7301711"/>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4</a:t>
            </a:r>
            <a:endParaRPr/>
          </a:p>
        </p:txBody>
      </p:sp>
      <p:sp>
        <p:nvSpPr>
          <p:cNvPr id="197" name="Google Shape;197;p3"/>
          <p:cNvSpPr txBox="1"/>
          <p:nvPr/>
        </p:nvSpPr>
        <p:spPr>
          <a:xfrm>
            <a:off x="1678551" y="8494965"/>
            <a:ext cx="375498" cy="588497"/>
          </a:xfrm>
          <a:prstGeom prst="rect">
            <a:avLst/>
          </a:prstGeom>
          <a:noFill/>
          <a:ln>
            <a:noFill/>
          </a:ln>
        </p:spPr>
        <p:txBody>
          <a:bodyPr spcFirstLastPara="1" wrap="square" lIns="0" tIns="0" rIns="0" bIns="0" anchor="t" anchorCtr="0">
            <a:spAutoFit/>
          </a:bodyPr>
          <a:lstStyle/>
          <a:p>
            <a:pPr marL="0" marR="0" lvl="0" indent="0" algn="ctr" rtl="0">
              <a:lnSpc>
                <a:spcPct val="140076"/>
              </a:lnSpc>
              <a:spcBef>
                <a:spcPts val="0"/>
              </a:spcBef>
              <a:spcAft>
                <a:spcPts val="0"/>
              </a:spcAft>
              <a:buNone/>
            </a:pPr>
            <a:r>
              <a:rPr lang="en-US" sz="3392" b="0" i="0" u="none" strike="noStrike" cap="none">
                <a:solidFill>
                  <a:srgbClr val="FFFFFF"/>
                </a:solidFill>
                <a:latin typeface="Roboto"/>
                <a:ea typeface="Roboto"/>
                <a:cs typeface="Roboto"/>
                <a:sym typeface="Roboto"/>
              </a:rPr>
              <a:t>5</a:t>
            </a:r>
            <a:endParaRPr/>
          </a:p>
        </p:txBody>
      </p:sp>
      <p:sp>
        <p:nvSpPr>
          <p:cNvPr id="198" name="Google Shape;198;p3"/>
          <p:cNvSpPr txBox="1"/>
          <p:nvPr/>
        </p:nvSpPr>
        <p:spPr>
          <a:xfrm>
            <a:off x="2532103" y="5049938"/>
            <a:ext cx="5061503"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000000"/>
                </a:solidFill>
                <a:latin typeface="Roboto"/>
                <a:ea typeface="Roboto"/>
                <a:cs typeface="Roboto"/>
                <a:sym typeface="Roboto"/>
              </a:rPr>
              <a:t>5.2. Yêu cầu về nội dung và thể thức</a:t>
            </a:r>
            <a:endParaRPr/>
          </a:p>
        </p:txBody>
      </p:sp>
      <p:sp>
        <p:nvSpPr>
          <p:cNvPr id="199" name="Google Shape;199;p3"/>
          <p:cNvSpPr txBox="1"/>
          <p:nvPr/>
        </p:nvSpPr>
        <p:spPr>
          <a:xfrm>
            <a:off x="2552154" y="6174105"/>
            <a:ext cx="5061503"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000000"/>
                </a:solidFill>
                <a:latin typeface="Roboto"/>
                <a:ea typeface="Roboto"/>
                <a:cs typeface="Roboto"/>
                <a:sym typeface="Roboto"/>
              </a:rPr>
              <a:t>5.3. Soạn thảo văn bản hành chính thông dụng</a:t>
            </a:r>
            <a:endParaRPr/>
          </a:p>
        </p:txBody>
      </p:sp>
      <p:sp>
        <p:nvSpPr>
          <p:cNvPr id="200" name="Google Shape;200;p3"/>
          <p:cNvSpPr txBox="1"/>
          <p:nvPr/>
        </p:nvSpPr>
        <p:spPr>
          <a:xfrm>
            <a:off x="2532103" y="7329259"/>
            <a:ext cx="5061503"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000000"/>
                </a:solidFill>
                <a:latin typeface="Roboto"/>
                <a:ea typeface="Roboto"/>
                <a:cs typeface="Roboto"/>
                <a:sym typeface="Roboto"/>
              </a:rPr>
              <a:t>5.4. Soạn thảo hợp đồng thương mại</a:t>
            </a:r>
            <a:endParaRPr/>
          </a:p>
        </p:txBody>
      </p:sp>
      <p:sp>
        <p:nvSpPr>
          <p:cNvPr id="201" name="Google Shape;201;p3"/>
          <p:cNvSpPr txBox="1"/>
          <p:nvPr/>
        </p:nvSpPr>
        <p:spPr>
          <a:xfrm>
            <a:off x="2532103" y="8453209"/>
            <a:ext cx="5061503"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000000"/>
                </a:solidFill>
                <a:latin typeface="Roboto"/>
                <a:ea typeface="Roboto"/>
                <a:cs typeface="Roboto"/>
                <a:sym typeface="Roboto"/>
              </a:rPr>
              <a:t>Ôn tập – Tình huống – Bài tập vận dụng</a:t>
            </a:r>
            <a:endParaRPr/>
          </a:p>
        </p:txBody>
      </p:sp>
      <p:grpSp>
        <p:nvGrpSpPr>
          <p:cNvPr id="202" name="Google Shape;202;p3"/>
          <p:cNvGrpSpPr/>
          <p:nvPr/>
        </p:nvGrpSpPr>
        <p:grpSpPr>
          <a:xfrm>
            <a:off x="17411864" y="9492448"/>
            <a:ext cx="882604" cy="780455"/>
            <a:chOff x="0" y="-47625"/>
            <a:chExt cx="743246" cy="657225"/>
          </a:xfrm>
        </p:grpSpPr>
        <p:sp>
          <p:nvSpPr>
            <p:cNvPr id="203" name="Google Shape;203;p3"/>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04" name="Google Shape;204;p3"/>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05" name="Google Shape;205;p3"/>
          <p:cNvSpPr txBox="1"/>
          <p:nvPr/>
        </p:nvSpPr>
        <p:spPr>
          <a:xfrm>
            <a:off x="1467213" y="99195"/>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06" name="Google Shape;206;p3"/>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a:t>
            </a:r>
            <a:r>
              <a:rPr lang="en-US" sz="2700" b="1" i="0" u="none" strike="noStrike" cap="none">
                <a:solidFill>
                  <a:schemeClr val="dk1"/>
                </a:solidFill>
                <a:latin typeface="Roboto"/>
                <a:ea typeface="Roboto"/>
                <a:cs typeface="Roboto"/>
                <a:sym typeface="Roboto"/>
              </a:rPr>
              <a:t> </a:t>
            </a:r>
            <a:r>
              <a:rPr lang="en-US" sz="2700" b="1" i="0" u="none" strike="noStrike" cap="none">
                <a:solidFill>
                  <a:srgbClr val="183B05"/>
                </a:solidFill>
                <a:latin typeface="Roboto"/>
                <a:ea typeface="Roboto"/>
                <a:cs typeface="Roboto"/>
                <a:sym typeface="Roboto"/>
              </a:rPr>
              <a:t>KINH DOANH VÀ LUẬT</a:t>
            </a:r>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5.1. KHÁI NIỆM VĂN BẢN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Khái niệm chung</a:t>
            </a:r>
          </a:p>
          <a:p>
            <a:pPr>
              <a:spcBef>
                <a:spcPts val="400"/>
              </a:spcBef>
            </a:pPr>
            <a:r>
              <a:rPr sz="2200">
                <a:solidFill>
                  <a:srgbClr val="212121"/>
                </a:solidFill>
                <a:latin typeface="Roboto"/>
              </a:rPr>
              <a:t>Văn bản là phương tiện ghi lại và truyền đạt thông tin bằng ngôn ngữ hay ký hiệu nhất định, hình thành trong hoạt động của cơ quan, tổ chức, doanh nghiệp.</a:t>
            </a:r>
          </a:p>
        </p:txBody>
      </p:sp>
      <p:sp>
        <p:nvSpPr>
          <p:cNvPr id="238" name="Rounded Rectangle 237"/>
          <p:cNvSpPr/>
          <p:nvPr/>
        </p:nvSpPr>
        <p:spPr>
          <a:xfrm>
            <a:off x="685800" y="5279136"/>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Theo Nghị định 30/2020/NĐ-CP</a:t>
            </a:r>
          </a:p>
          <a:p>
            <a:pPr>
              <a:spcBef>
                <a:spcPts val="400"/>
              </a:spcBef>
            </a:pPr>
            <a:r>
              <a:rPr sz="2200">
                <a:solidFill>
                  <a:srgbClr val="212121"/>
                </a:solidFill>
                <a:latin typeface="Roboto"/>
              </a:rPr>
              <a:t>“Văn bản là thông tin thành văn được truyền đạt bằng ngôn ngữ hoặc ký hiệu, hình thành trong hoạt động của các cơ quan, tổ chức và được trình bày đúng thể thức, kỹ thuật quy định.”</a:t>
            </a:r>
          </a:p>
        </p:txBody>
      </p:sp>
      <p:sp>
        <p:nvSpPr>
          <p:cNvPr id="239" name="Rounded Rectangle 238"/>
          <p:cNvSpPr/>
          <p:nvPr/>
        </p:nvSpPr>
        <p:spPr>
          <a:xfrm>
            <a:off x="685800" y="7312152"/>
            <a:ext cx="12161520" cy="1831848"/>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500">
                <a:solidFill>
                  <a:srgbClr val="0E6B2D"/>
                </a:solidFill>
                <a:latin typeface="Roboto"/>
              </a:rPr>
              <a:t>Vai trò trong kinh doanh</a:t>
            </a:r>
          </a:p>
          <a:p>
            <a:pPr>
              <a:spcBef>
                <a:spcPts val="400"/>
              </a:spcBef>
            </a:pPr>
            <a:r>
              <a:rPr sz="2200">
                <a:solidFill>
                  <a:srgbClr val="212121"/>
                </a:solidFill>
                <a:latin typeface="Roboto"/>
              </a:rPr>
              <a:t>Phương tiện quản lý, điều hành • căn cứ pháp lý cho giao dịch • lưu trữ thông tin • thể hiện hình ảnh chuyên nghiệp của doanh nghiệp.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ĐỌC MỘT TRANG VĂN BẢN ĐÚNG CHUẨN</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9</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Rounded Rectangle 236"/>
          <p:cNvSpPr/>
          <p:nvPr/>
        </p:nvSpPr>
        <p:spPr>
          <a:xfrm>
            <a:off x="68580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Phần đầu trang</a:t>
            </a:r>
          </a:p>
          <a:p>
            <a:pPr>
              <a:spcBef>
                <a:spcPts val="400"/>
              </a:spcBef>
            </a:pPr>
            <a:r>
              <a:rPr sz="2100">
                <a:solidFill>
                  <a:srgbClr val="212121"/>
                </a:solidFill>
                <a:latin typeface="Roboto"/>
              </a:rPr>
              <a:t>Góc trái: tên cơ quan ban hành — số và ký hiệu văn bản. Góc phải: Quốc hiệu, Tiêu ngữ, dưới là địa danh và ngày tháng năm.</a:t>
            </a:r>
          </a:p>
        </p:txBody>
      </p:sp>
      <p:sp>
        <p:nvSpPr>
          <p:cNvPr id="238" name="Rounded Rectangle 237"/>
          <p:cNvSpPr/>
          <p:nvPr/>
        </p:nvSpPr>
        <p:spPr>
          <a:xfrm>
            <a:off x="6880860" y="324612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Phần giữa trang</a:t>
            </a:r>
          </a:p>
          <a:p>
            <a:pPr>
              <a:spcBef>
                <a:spcPts val="400"/>
              </a:spcBef>
            </a:pPr>
            <a:r>
              <a:rPr sz="2100">
                <a:solidFill>
                  <a:srgbClr val="212121"/>
                </a:solidFill>
                <a:latin typeface="Roboto"/>
              </a:rPr>
              <a:t>Tên loại văn bản viết in hoa đậm, canh giữa. Ngay dưới là trích yếu nội dung — một câu ngắn cho biết văn bản nói về việc gì.</a:t>
            </a:r>
          </a:p>
        </p:txBody>
      </p:sp>
      <p:sp>
        <p:nvSpPr>
          <p:cNvPr id="239" name="Rounded Rectangle 238"/>
          <p:cNvSpPr/>
          <p:nvPr/>
        </p:nvSpPr>
        <p:spPr>
          <a:xfrm>
            <a:off x="68580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Phần cuối trang</a:t>
            </a:r>
          </a:p>
          <a:p>
            <a:pPr>
              <a:spcBef>
                <a:spcPts val="400"/>
              </a:spcBef>
            </a:pPr>
            <a:r>
              <a:rPr sz="2100">
                <a:solidFill>
                  <a:srgbClr val="212121"/>
                </a:solidFill>
                <a:latin typeface="Roboto"/>
              </a:rPr>
              <a:t>Bên phải: chức vụ, chữ ký, dấu và họ tên người có thẩm quyền. Bên trái: “Nơi nhận”, dòng cuối luôn là “Lưu: VT”.</a:t>
            </a:r>
          </a:p>
        </p:txBody>
      </p:sp>
      <p:sp>
        <p:nvSpPr>
          <p:cNvPr id="240" name="Rounded Rectangle 239"/>
          <p:cNvSpPr/>
          <p:nvPr/>
        </p:nvSpPr>
        <p:spPr>
          <a:xfrm>
            <a:off x="6880860" y="6309360"/>
            <a:ext cx="5966460" cy="2834640"/>
          </a:xfrm>
          <a:prstGeom prst="roundRect">
            <a:avLst>
              <a:gd name="adj" fmla="val 8000"/>
            </a:avLst>
          </a:prstGeom>
          <a:solidFill>
            <a:srgbClr val="EFF7EC"/>
          </a:solidFill>
          <a:ln w="15875">
            <a:solidFill>
              <a:srgbClr val="4AAD3C"/>
            </a:solid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09728" bIns="109728"/>
          <a:lstStyle/>
          <a:p>
            <a:pPr algn="ctr"/>
            <a:r>
              <a:rPr b="1" sz="2400">
                <a:solidFill>
                  <a:srgbClr val="0E6B2D"/>
                </a:solidFill>
                <a:latin typeface="Roboto"/>
              </a:rPr>
              <a:t>Mẹo kiểm tra nhanh</a:t>
            </a:r>
          </a:p>
          <a:p>
            <a:pPr>
              <a:spcBef>
                <a:spcPts val="400"/>
              </a:spcBef>
            </a:pPr>
            <a:r>
              <a:rPr sz="2100">
                <a:solidFill>
                  <a:srgbClr val="212121"/>
                </a:solidFill>
                <a:latin typeface="Roboto"/>
              </a:rPr>
              <a:t>Che phần nội dung lại. Nếu vẫn biết ai ban hành, ngày nào, gửi cho ai và ai ký — thì thể thức đã đạt.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11" name="Google Shape;211;p4"/>
          <p:cNvGrpSpPr/>
          <p:nvPr/>
        </p:nvGrpSpPr>
        <p:grpSpPr>
          <a:xfrm rot="-5400000">
            <a:off x="16208572" y="599911"/>
            <a:ext cx="1360170" cy="1302075"/>
            <a:chOff x="0" y="-47625"/>
            <a:chExt cx="514082" cy="492125"/>
          </a:xfrm>
        </p:grpSpPr>
        <p:sp>
          <p:nvSpPr>
            <p:cNvPr id="212" name="Google Shape;212;p4"/>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4" name="Google Shape;214;p4"/>
          <p:cNvSpPr/>
          <p:nvPr/>
        </p:nvSpPr>
        <p:spPr>
          <a:xfrm>
            <a:off x="4719312" y="281980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15" name="Google Shape;215;p4"/>
          <p:cNvGrpSpPr/>
          <p:nvPr/>
        </p:nvGrpSpPr>
        <p:grpSpPr>
          <a:xfrm>
            <a:off x="3109328" y="1513664"/>
            <a:ext cx="12368154" cy="1457539"/>
            <a:chOff x="0" y="-47625"/>
            <a:chExt cx="3257456" cy="383879"/>
          </a:xfrm>
        </p:grpSpPr>
        <p:sp>
          <p:nvSpPr>
            <p:cNvPr id="216" name="Google Shape;216;p4"/>
            <p:cNvSpPr/>
            <p:nvPr/>
          </p:nvSpPr>
          <p:spPr>
            <a:xfrm>
              <a:off x="0" y="0"/>
              <a:ext cx="3257456" cy="336254"/>
            </a:xfrm>
            <a:custGeom>
              <a:avLst/>
              <a:gdLst/>
              <a:ahLst/>
              <a:cxnLst/>
              <a:rect l="l" t="t" r="r" b="b"/>
              <a:pathLst>
                <a:path w="3257456" h="336254" extrusionOk="0">
                  <a:moveTo>
                    <a:pt x="10641" y="0"/>
                  </a:moveTo>
                  <a:lnTo>
                    <a:pt x="3246815" y="0"/>
                  </a:lnTo>
                  <a:cubicBezTo>
                    <a:pt x="3249637" y="0"/>
                    <a:pt x="3252344" y="1121"/>
                    <a:pt x="3254339" y="3117"/>
                  </a:cubicBezTo>
                  <a:cubicBezTo>
                    <a:pt x="3256335" y="5112"/>
                    <a:pt x="3257456" y="7819"/>
                    <a:pt x="3257456" y="10641"/>
                  </a:cubicBezTo>
                  <a:lnTo>
                    <a:pt x="3257456" y="325612"/>
                  </a:lnTo>
                  <a:cubicBezTo>
                    <a:pt x="3257456" y="331489"/>
                    <a:pt x="3252692" y="336254"/>
                    <a:pt x="3246815" y="336254"/>
                  </a:cubicBezTo>
                  <a:lnTo>
                    <a:pt x="10641" y="336254"/>
                  </a:lnTo>
                  <a:cubicBezTo>
                    <a:pt x="4764" y="336254"/>
                    <a:pt x="0" y="331489"/>
                    <a:pt x="0" y="325612"/>
                  </a:cubicBezTo>
                  <a:lnTo>
                    <a:pt x="0" y="10641"/>
                  </a:lnTo>
                  <a:cubicBezTo>
                    <a:pt x="0" y="7819"/>
                    <a:pt x="1121" y="5112"/>
                    <a:pt x="3117" y="3117"/>
                  </a:cubicBezTo>
                  <a:cubicBezTo>
                    <a:pt x="5112" y="1121"/>
                    <a:pt x="7819" y="0"/>
                    <a:pt x="10641"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4"/>
            <p:cNvSpPr txBox="1"/>
            <p:nvPr/>
          </p:nvSpPr>
          <p:spPr>
            <a:xfrm>
              <a:off x="0" y="-47625"/>
              <a:ext cx="3257456"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18" name="Google Shape;218;p4"/>
          <p:cNvSpPr txBox="1"/>
          <p:nvPr/>
        </p:nvSpPr>
        <p:spPr>
          <a:xfrm>
            <a:off x="2231291" y="1934031"/>
            <a:ext cx="14141653" cy="759531"/>
          </a:xfrm>
          <a:prstGeom prst="rect">
            <a:avLst/>
          </a:prstGeom>
          <a:noFill/>
          <a:ln>
            <a:noFill/>
          </a:ln>
        </p:spPr>
        <p:txBody>
          <a:bodyPr spcFirstLastPara="1" wrap="square" lIns="0" tIns="0" rIns="0" bIns="0" anchor="t" anchorCtr="0">
            <a:spAutoFit/>
          </a:bodyPr>
          <a:lstStyle/>
          <a:p>
            <a:pPr marL="0" marR="0" lvl="0" indent="0" algn="ctr" rtl="0">
              <a:lnSpc>
                <a:spcPct val="126008"/>
              </a:lnSpc>
              <a:spcBef>
                <a:spcPts val="0"/>
              </a:spcBef>
              <a:spcAft>
                <a:spcPts val="0"/>
              </a:spcAft>
              <a:buNone/>
            </a:pPr>
            <a:r>
              <a:rPr lang="en-US" sz="4400" b="1" i="0" u="none" strike="noStrike" cap="none">
                <a:solidFill>
                  <a:srgbClr val="FFFFFF"/>
                </a:solidFill>
                <a:latin typeface="Roboto"/>
                <a:ea typeface="Roboto"/>
                <a:cs typeface="Roboto"/>
                <a:sym typeface="Roboto"/>
              </a:rPr>
              <a:t>CÂU HỎI ÔN TẬP CHƯƠNG 5</a:t>
            </a:r>
            <a:endParaRPr/>
          </a:p>
        </p:txBody>
      </p:sp>
      <p:grpSp>
        <p:nvGrpSpPr>
          <p:cNvPr id="219" name="Google Shape;219;p4"/>
          <p:cNvGrpSpPr/>
          <p:nvPr/>
        </p:nvGrpSpPr>
        <p:grpSpPr>
          <a:xfrm>
            <a:off x="0" y="9382274"/>
            <a:ext cx="18294472" cy="904726"/>
            <a:chOff x="0" y="-47625"/>
            <a:chExt cx="5001389" cy="238282"/>
          </a:xfrm>
        </p:grpSpPr>
        <p:sp>
          <p:nvSpPr>
            <p:cNvPr id="220" name="Google Shape;220;p4"/>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21" name="Google Shape;221;p4"/>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4"/>
          <p:cNvGrpSpPr/>
          <p:nvPr/>
        </p:nvGrpSpPr>
        <p:grpSpPr>
          <a:xfrm>
            <a:off x="8895465" y="9662418"/>
            <a:ext cx="497071" cy="497071"/>
            <a:chOff x="0" y="0"/>
            <a:chExt cx="812800" cy="812800"/>
          </a:xfrm>
        </p:grpSpPr>
        <p:sp>
          <p:nvSpPr>
            <p:cNvPr id="223" name="Google Shape;223;p4"/>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4"/>
          <p:cNvGrpSpPr/>
          <p:nvPr/>
        </p:nvGrpSpPr>
        <p:grpSpPr>
          <a:xfrm>
            <a:off x="17411864" y="9492448"/>
            <a:ext cx="882604" cy="780455"/>
            <a:chOff x="0" y="-47625"/>
            <a:chExt cx="743246" cy="657225"/>
          </a:xfrm>
        </p:grpSpPr>
        <p:sp>
          <p:nvSpPr>
            <p:cNvPr id="226" name="Google Shape;226;p4"/>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27" name="Google Shape;227;p4"/>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28" name="Google Shape;228;p4"/>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44</a:t>
            </a:r>
            <a:endParaRPr/>
          </a:p>
        </p:txBody>
      </p:sp>
      <p:sp>
        <p:nvSpPr>
          <p:cNvPr id="229" name="Google Shape;229;p4"/>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grpSp>
        <p:nvGrpSpPr>
          <p:cNvPr id="230" name="Google Shape;230;p4"/>
          <p:cNvGrpSpPr/>
          <p:nvPr/>
        </p:nvGrpSpPr>
        <p:grpSpPr>
          <a:xfrm>
            <a:off x="11181559" y="2552700"/>
            <a:ext cx="13343213" cy="13341323"/>
            <a:chOff x="-470942" y="-533427"/>
            <a:chExt cx="1207542" cy="1270027"/>
          </a:xfrm>
        </p:grpSpPr>
        <p:sp>
          <p:nvSpPr>
            <p:cNvPr id="231" name="Google Shape;231;p4"/>
            <p:cNvSpPr/>
            <p:nvPr/>
          </p:nvSpPr>
          <p:spPr>
            <a:xfrm>
              <a:off x="-470942" y="-533427"/>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FB805">
                <a:alpha val="109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4"/>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33" name="Google Shape;233;p4"/>
          <p:cNvSpPr/>
          <p:nvPr/>
        </p:nvSpPr>
        <p:spPr>
          <a:xfrm>
            <a:off x="13259958" y="3256557"/>
            <a:ext cx="4481564" cy="5827243"/>
          </a:xfrm>
          <a:custGeom>
            <a:avLst/>
            <a:gdLst/>
            <a:ahLst/>
            <a:cxnLst/>
            <a:rect l="l" t="t" r="r" b="b"/>
            <a:pathLst>
              <a:path w="980550" h="1274980" extrusionOk="0">
                <a:moveTo>
                  <a:pt x="39733" y="0"/>
                </a:moveTo>
                <a:lnTo>
                  <a:pt x="940818" y="0"/>
                </a:lnTo>
                <a:cubicBezTo>
                  <a:pt x="962761" y="0"/>
                  <a:pt x="980550" y="17789"/>
                  <a:pt x="980550" y="39733"/>
                </a:cubicBezTo>
                <a:lnTo>
                  <a:pt x="980550" y="1235248"/>
                </a:lnTo>
                <a:cubicBezTo>
                  <a:pt x="980550" y="1257191"/>
                  <a:pt x="962761" y="1274980"/>
                  <a:pt x="940818" y="1274980"/>
                </a:cubicBezTo>
                <a:lnTo>
                  <a:pt x="39733" y="1274980"/>
                </a:lnTo>
                <a:cubicBezTo>
                  <a:pt x="17789" y="1274980"/>
                  <a:pt x="0" y="1257191"/>
                  <a:pt x="0" y="1235248"/>
                </a:cubicBezTo>
                <a:lnTo>
                  <a:pt x="0" y="39733"/>
                </a:lnTo>
                <a:cubicBezTo>
                  <a:pt x="0" y="17789"/>
                  <a:pt x="17789" y="0"/>
                  <a:pt x="39733" y="0"/>
                </a:cubicBezTo>
                <a:close/>
              </a:path>
            </a:pathLst>
          </a:cu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4"/>
          <p:cNvSpPr txBox="1"/>
          <p:nvPr/>
        </p:nvSpPr>
        <p:spPr>
          <a:xfrm>
            <a:off x="1702933"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235" name="Google Shape;235;p4"/>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236" name="Google Shape;236;p4"/>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237" name="Oval 236"/>
          <p:cNvSpPr/>
          <p:nvPr/>
        </p:nvSpPr>
        <p:spPr>
          <a:xfrm>
            <a:off x="822960" y="3840480"/>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1</a:t>
            </a:r>
          </a:p>
        </p:txBody>
      </p:sp>
      <p:sp>
        <p:nvSpPr>
          <p:cNvPr id="238" name="TextBox 237"/>
          <p:cNvSpPr txBox="1"/>
          <p:nvPr/>
        </p:nvSpPr>
        <p:spPr>
          <a:xfrm>
            <a:off x="1508760" y="3794760"/>
            <a:ext cx="11292840" cy="749808"/>
          </a:xfrm>
          <a:prstGeom prst="rect">
            <a:avLst/>
          </a:prstGeom>
          <a:noFill/>
        </p:spPr>
        <p:txBody>
          <a:bodyPr wrap="square" lIns="0" tIns="0" bIns="0">
            <a:spAutoFit/>
          </a:bodyPr>
          <a:lstStyle/>
          <a:p>
            <a:r>
              <a:rPr sz="2400">
                <a:solidFill>
                  <a:srgbClr val="212121"/>
                </a:solidFill>
                <a:latin typeface="Roboto"/>
              </a:rPr>
              <a:t>Trình bày khái niệm văn bản và các cách phân loại văn bản?</a:t>
            </a:r>
          </a:p>
        </p:txBody>
      </p:sp>
      <p:sp>
        <p:nvSpPr>
          <p:cNvPr id="239" name="Oval 238"/>
          <p:cNvSpPr/>
          <p:nvPr/>
        </p:nvSpPr>
        <p:spPr>
          <a:xfrm>
            <a:off x="822960" y="4901184"/>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2</a:t>
            </a:r>
          </a:p>
        </p:txBody>
      </p:sp>
      <p:sp>
        <p:nvSpPr>
          <p:cNvPr id="240" name="TextBox 239"/>
          <p:cNvSpPr txBox="1"/>
          <p:nvPr/>
        </p:nvSpPr>
        <p:spPr>
          <a:xfrm>
            <a:off x="1508760" y="4855464"/>
            <a:ext cx="11292840" cy="749808"/>
          </a:xfrm>
          <a:prstGeom prst="rect">
            <a:avLst/>
          </a:prstGeom>
          <a:noFill/>
        </p:spPr>
        <p:txBody>
          <a:bodyPr wrap="square" lIns="0" tIns="0" bIns="0">
            <a:spAutoFit/>
          </a:bodyPr>
          <a:lstStyle/>
          <a:p>
            <a:r>
              <a:rPr sz="2400">
                <a:solidFill>
                  <a:srgbClr val="212121"/>
                </a:solidFill>
                <a:latin typeface="Roboto"/>
              </a:rPr>
              <a:t>Nêu các thành phần thể thức văn bản theo Nghị định 30/2020/NĐ-CP?</a:t>
            </a:r>
          </a:p>
        </p:txBody>
      </p:sp>
      <p:sp>
        <p:nvSpPr>
          <p:cNvPr id="241" name="Oval 240"/>
          <p:cNvSpPr/>
          <p:nvPr/>
        </p:nvSpPr>
        <p:spPr>
          <a:xfrm>
            <a:off x="822960" y="5961888"/>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3</a:t>
            </a:r>
          </a:p>
        </p:txBody>
      </p:sp>
      <p:sp>
        <p:nvSpPr>
          <p:cNvPr id="242" name="TextBox 241"/>
          <p:cNvSpPr txBox="1"/>
          <p:nvPr/>
        </p:nvSpPr>
        <p:spPr>
          <a:xfrm>
            <a:off x="1508760" y="5916168"/>
            <a:ext cx="11292840" cy="749808"/>
          </a:xfrm>
          <a:prstGeom prst="rect">
            <a:avLst/>
          </a:prstGeom>
          <a:noFill/>
        </p:spPr>
        <p:txBody>
          <a:bodyPr wrap="square" lIns="0" tIns="0" bIns="0">
            <a:spAutoFit/>
          </a:bodyPr>
          <a:lstStyle/>
          <a:p>
            <a:r>
              <a:rPr sz="2400">
                <a:solidFill>
                  <a:srgbClr val="212121"/>
                </a:solidFill>
                <a:latin typeface="Roboto"/>
              </a:rPr>
              <a:t>So sánh quyết định và tờ trình; biên bản và báo cáo?</a:t>
            </a:r>
          </a:p>
        </p:txBody>
      </p:sp>
      <p:sp>
        <p:nvSpPr>
          <p:cNvPr id="243" name="Oval 242"/>
          <p:cNvSpPr/>
          <p:nvPr/>
        </p:nvSpPr>
        <p:spPr>
          <a:xfrm>
            <a:off x="822960" y="7022592"/>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4</a:t>
            </a:r>
          </a:p>
        </p:txBody>
      </p:sp>
      <p:sp>
        <p:nvSpPr>
          <p:cNvPr id="244" name="TextBox 243"/>
          <p:cNvSpPr txBox="1"/>
          <p:nvPr/>
        </p:nvSpPr>
        <p:spPr>
          <a:xfrm>
            <a:off x="1508760" y="6976872"/>
            <a:ext cx="11292840" cy="749808"/>
          </a:xfrm>
          <a:prstGeom prst="rect">
            <a:avLst/>
          </a:prstGeom>
          <a:noFill/>
        </p:spPr>
        <p:txBody>
          <a:bodyPr wrap="square" lIns="0" tIns="0" bIns="0">
            <a:spAutoFit/>
          </a:bodyPr>
          <a:lstStyle/>
          <a:p>
            <a:r>
              <a:rPr sz="2400">
                <a:solidFill>
                  <a:srgbClr val="212121"/>
                </a:solidFill>
                <a:latin typeface="Roboto"/>
              </a:rPr>
              <a:t>Phân biệt ba nhóm điều khoản của hợp đồng thương mại?</a:t>
            </a:r>
          </a:p>
        </p:txBody>
      </p:sp>
      <p:sp>
        <p:nvSpPr>
          <p:cNvPr id="245" name="Oval 244"/>
          <p:cNvSpPr/>
          <p:nvPr/>
        </p:nvSpPr>
        <p:spPr>
          <a:xfrm>
            <a:off x="822960" y="8083296"/>
            <a:ext cx="502920" cy="502920"/>
          </a:xfrm>
          <a:prstGeom prst="ellipse">
            <a:avLst/>
          </a:prstGeom>
          <a:solidFill>
            <a:srgbClr val="0E6B2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2400">
                <a:solidFill>
                  <a:srgbClr val="FFFFFF"/>
                </a:solidFill>
                <a:latin typeface="Roboto"/>
              </a:rPr>
              <a:t>5</a:t>
            </a:r>
          </a:p>
        </p:txBody>
      </p:sp>
      <p:sp>
        <p:nvSpPr>
          <p:cNvPr id="246" name="TextBox 245"/>
          <p:cNvSpPr txBox="1"/>
          <p:nvPr/>
        </p:nvSpPr>
        <p:spPr>
          <a:xfrm>
            <a:off x="1508760" y="8037575"/>
            <a:ext cx="11292840" cy="749808"/>
          </a:xfrm>
          <a:prstGeom prst="rect">
            <a:avLst/>
          </a:prstGeom>
          <a:noFill/>
        </p:spPr>
        <p:txBody>
          <a:bodyPr wrap="square" lIns="0" tIns="0" bIns="0">
            <a:spAutoFit/>
          </a:bodyPr>
          <a:lstStyle/>
          <a:p>
            <a:r>
              <a:rPr sz="2400">
                <a:solidFill>
                  <a:srgbClr val="212121"/>
                </a:solidFill>
                <a:latin typeface="Roboto"/>
              </a:rPr>
              <a:t>Phân biệt phạt vi phạm và bồi thường thiệt hại trong hợp đồng?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71" name="Google Shape;271;p6"/>
          <p:cNvGrpSpPr/>
          <p:nvPr/>
        </p:nvGrpSpPr>
        <p:grpSpPr>
          <a:xfrm rot="-5400000">
            <a:off x="16208572" y="599911"/>
            <a:ext cx="1360170" cy="1302075"/>
            <a:chOff x="0" y="-47625"/>
            <a:chExt cx="514082" cy="492125"/>
          </a:xfrm>
        </p:grpSpPr>
        <p:sp>
          <p:nvSpPr>
            <p:cNvPr id="272" name="Google Shape;272;p6"/>
            <p:cNvSpPr/>
            <p:nvPr/>
          </p:nvSpPr>
          <p:spPr>
            <a:xfrm>
              <a:off x="0" y="0"/>
              <a:ext cx="514082" cy="444500"/>
            </a:xfrm>
            <a:custGeom>
              <a:avLst/>
              <a:gdLst/>
              <a:ahLst/>
              <a:cxnLst/>
              <a:rect l="l" t="t" r="r" b="b"/>
              <a:pathLst>
                <a:path w="514082" h="444500" extrusionOk="0">
                  <a:moveTo>
                    <a:pt x="405136" y="0"/>
                  </a:moveTo>
                  <a:lnTo>
                    <a:pt x="108946" y="0"/>
                  </a:lnTo>
                  <a:cubicBezTo>
                    <a:pt x="80052" y="0"/>
                    <a:pt x="52341" y="11478"/>
                    <a:pt x="31910" y="31910"/>
                  </a:cubicBezTo>
                  <a:cubicBezTo>
                    <a:pt x="11478" y="52341"/>
                    <a:pt x="0" y="80052"/>
                    <a:pt x="0" y="108946"/>
                  </a:cubicBezTo>
                  <a:lnTo>
                    <a:pt x="0" y="398743"/>
                  </a:lnTo>
                  <a:cubicBezTo>
                    <a:pt x="27345" y="433272"/>
                    <a:pt x="114848" y="481613"/>
                    <a:pt x="246103" y="398743"/>
                  </a:cubicBezTo>
                  <a:cubicBezTo>
                    <a:pt x="377358" y="315872"/>
                    <a:pt x="479446" y="364213"/>
                    <a:pt x="514082" y="398743"/>
                  </a:cubicBezTo>
                  <a:lnTo>
                    <a:pt x="514082" y="108946"/>
                  </a:lnTo>
                  <a:cubicBezTo>
                    <a:pt x="514082" y="80052"/>
                    <a:pt x="502604" y="52341"/>
                    <a:pt x="482173" y="31910"/>
                  </a:cubicBezTo>
                  <a:cubicBezTo>
                    <a:pt x="461741" y="11478"/>
                    <a:pt x="434030" y="0"/>
                    <a:pt x="40513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txBox="1"/>
            <p:nvPr/>
          </p:nvSpPr>
          <p:spPr>
            <a:xfrm>
              <a:off x="0" y="-47625"/>
              <a:ext cx="514082" cy="39687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4" name="Google Shape;274;p6"/>
          <p:cNvSpPr/>
          <p:nvPr/>
        </p:nvSpPr>
        <p:spPr>
          <a:xfrm>
            <a:off x="4719313" y="3080586"/>
            <a:ext cx="8849375" cy="1039802"/>
          </a:xfrm>
          <a:custGeom>
            <a:avLst/>
            <a:gdLst/>
            <a:ahLst/>
            <a:cxnLst/>
            <a:rect l="l" t="t" r="r" b="b"/>
            <a:pathLst>
              <a:path w="8849375" h="1039802" extrusionOk="0">
                <a:moveTo>
                  <a:pt x="0" y="0"/>
                </a:moveTo>
                <a:lnTo>
                  <a:pt x="8849374" y="0"/>
                </a:lnTo>
                <a:lnTo>
                  <a:pt x="8849374" y="1039801"/>
                </a:lnTo>
                <a:lnTo>
                  <a:pt x="0" y="1039801"/>
                </a:lnTo>
                <a:lnTo>
                  <a:pt x="0" y="0"/>
                </a:lnTo>
                <a:close/>
              </a:path>
            </a:pathLst>
          </a:custGeom>
          <a:blipFill rotWithShape="1">
            <a:blip r:embed="rId2">
              <a:alphaModFix amt="72000"/>
            </a:blip>
            <a:stretch>
              <a:fillRect/>
            </a:stretch>
          </a:blipFill>
          <a:ln>
            <a:noFill/>
          </a:ln>
        </p:spPr>
        <p:txBody>
          <a:bodyPr/>
          <a:p/>
        </p:txBody>
      </p:sp>
      <p:grpSp>
        <p:nvGrpSpPr>
          <p:cNvPr id="275" name="Google Shape;275;p6"/>
          <p:cNvGrpSpPr/>
          <p:nvPr/>
        </p:nvGrpSpPr>
        <p:grpSpPr>
          <a:xfrm>
            <a:off x="4719313" y="2024673"/>
            <a:ext cx="8849379" cy="1457539"/>
            <a:chOff x="0" y="-47625"/>
            <a:chExt cx="2330700" cy="383879"/>
          </a:xfrm>
        </p:grpSpPr>
        <p:sp>
          <p:nvSpPr>
            <p:cNvPr id="276" name="Google Shape;276;p6"/>
            <p:cNvSpPr/>
            <p:nvPr/>
          </p:nvSpPr>
          <p:spPr>
            <a:xfrm>
              <a:off x="0" y="0"/>
              <a:ext cx="2330700" cy="336254"/>
            </a:xfrm>
            <a:custGeom>
              <a:avLst/>
              <a:gdLst/>
              <a:ahLst/>
              <a:cxnLst/>
              <a:rect l="l" t="t" r="r" b="b"/>
              <a:pathLst>
                <a:path w="2330700" h="336254" extrusionOk="0">
                  <a:moveTo>
                    <a:pt x="14873" y="0"/>
                  </a:moveTo>
                  <a:lnTo>
                    <a:pt x="2315827" y="0"/>
                  </a:lnTo>
                  <a:cubicBezTo>
                    <a:pt x="2324041" y="0"/>
                    <a:pt x="2330700" y="6659"/>
                    <a:pt x="2330700" y="14873"/>
                  </a:cubicBezTo>
                  <a:lnTo>
                    <a:pt x="2330700" y="321381"/>
                  </a:lnTo>
                  <a:cubicBezTo>
                    <a:pt x="2330700" y="325325"/>
                    <a:pt x="2329133" y="329108"/>
                    <a:pt x="2326343" y="331897"/>
                  </a:cubicBezTo>
                  <a:cubicBezTo>
                    <a:pt x="2323554" y="334687"/>
                    <a:pt x="2319772" y="336254"/>
                    <a:pt x="2315827" y="336254"/>
                  </a:cubicBezTo>
                  <a:lnTo>
                    <a:pt x="14873" y="336254"/>
                  </a:lnTo>
                  <a:cubicBezTo>
                    <a:pt x="6659" y="336254"/>
                    <a:pt x="0" y="329595"/>
                    <a:pt x="0" y="321381"/>
                  </a:cubicBezTo>
                  <a:lnTo>
                    <a:pt x="0" y="14873"/>
                  </a:lnTo>
                  <a:cubicBezTo>
                    <a:pt x="0" y="6659"/>
                    <a:pt x="6659" y="0"/>
                    <a:pt x="14873" y="0"/>
                  </a:cubicBezTo>
                  <a:close/>
                </a:path>
              </a:pathLst>
            </a:custGeom>
            <a:solidFill>
              <a:srgbClr val="0E6B2D"/>
            </a:solidFill>
            <a:ln w="38100" cap="sq" cmpd="sng">
              <a:solidFill>
                <a:srgbClr val="FCEE7B"/>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6"/>
            <p:cNvSpPr txBox="1"/>
            <p:nvPr/>
          </p:nvSpPr>
          <p:spPr>
            <a:xfrm>
              <a:off x="0" y="-47625"/>
              <a:ext cx="2330699" cy="38387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78" name="Google Shape;278;p6"/>
          <p:cNvSpPr/>
          <p:nvPr/>
        </p:nvSpPr>
        <p:spPr>
          <a:xfrm>
            <a:off x="5781567" y="2346460"/>
            <a:ext cx="849304" cy="994792"/>
          </a:xfrm>
          <a:custGeom>
            <a:avLst/>
            <a:gdLst/>
            <a:ahLst/>
            <a:cxnLst/>
            <a:rect l="l" t="t" r="r" b="b"/>
            <a:pathLst>
              <a:path w="849304" h="994792" extrusionOk="0">
                <a:moveTo>
                  <a:pt x="0" y="0"/>
                </a:moveTo>
                <a:lnTo>
                  <a:pt x="849304" y="0"/>
                </a:lnTo>
                <a:lnTo>
                  <a:pt x="849304" y="994792"/>
                </a:lnTo>
                <a:lnTo>
                  <a:pt x="0" y="994792"/>
                </a:lnTo>
                <a:lnTo>
                  <a:pt x="0" y="0"/>
                </a:lnTo>
                <a:close/>
              </a:path>
            </a:pathLst>
          </a:custGeom>
          <a:blipFill rotWithShape="1">
            <a:blip r:embed="rId4">
              <a:alphaModFix/>
            </a:blip>
            <a:stretch>
              <a:fillRect/>
            </a:stretch>
          </a:blipFill>
          <a:ln>
            <a:noFill/>
          </a:ln>
        </p:spPr>
        <p:txBody>
          <a:bodyPr/>
          <a:p/>
        </p:txBody>
      </p:sp>
      <p:sp>
        <p:nvSpPr>
          <p:cNvPr id="279" name="Google Shape;279;p6"/>
          <p:cNvSpPr/>
          <p:nvPr/>
        </p:nvSpPr>
        <p:spPr>
          <a:xfrm>
            <a:off x="2979216" y="8672525"/>
            <a:ext cx="4388535" cy="348669"/>
          </a:xfrm>
          <a:custGeom>
            <a:avLst/>
            <a:gdLst/>
            <a:ahLst/>
            <a:cxnLst/>
            <a:rect l="l" t="t" r="r" b="b"/>
            <a:pathLst>
              <a:path w="4388535" h="348669" extrusionOk="0">
                <a:moveTo>
                  <a:pt x="0" y="0"/>
                </a:moveTo>
                <a:lnTo>
                  <a:pt x="4388536" y="0"/>
                </a:lnTo>
                <a:lnTo>
                  <a:pt x="4388536" y="348669"/>
                </a:lnTo>
                <a:lnTo>
                  <a:pt x="0" y="348669"/>
                </a:lnTo>
                <a:lnTo>
                  <a:pt x="0" y="0"/>
                </a:lnTo>
                <a:close/>
              </a:path>
            </a:pathLst>
          </a:custGeom>
          <a:blipFill rotWithShape="1">
            <a:blip r:embed="rId2">
              <a:alphaModFix amt="72000"/>
            </a:blip>
            <a:stretch>
              <a:fillRect t="-47892"/>
            </a:stretch>
          </a:blipFill>
          <a:ln>
            <a:noFill/>
          </a:ln>
        </p:spPr>
        <p:txBody>
          <a:bodyPr/>
          <a:p/>
        </p:txBody>
      </p:sp>
      <p:grpSp>
        <p:nvGrpSpPr>
          <p:cNvPr id="280" name="Google Shape;280;p6"/>
          <p:cNvGrpSpPr/>
          <p:nvPr/>
        </p:nvGrpSpPr>
        <p:grpSpPr>
          <a:xfrm>
            <a:off x="2573416" y="4204252"/>
            <a:ext cx="5424379" cy="4468273"/>
            <a:chOff x="0" y="-47625"/>
            <a:chExt cx="1428643" cy="1176829"/>
          </a:xfrm>
        </p:grpSpPr>
        <p:sp>
          <p:nvSpPr>
            <p:cNvPr id="281" name="Google Shape;281;p6"/>
            <p:cNvSpPr/>
            <p:nvPr/>
          </p:nvSpPr>
          <p:spPr>
            <a:xfrm>
              <a:off x="0" y="0"/>
              <a:ext cx="1428643" cy="1129204"/>
            </a:xfrm>
            <a:custGeom>
              <a:avLst/>
              <a:gdLst/>
              <a:ahLst/>
              <a:cxnLst/>
              <a:rect l="l" t="t" r="r" b="b"/>
              <a:pathLst>
                <a:path w="1428643" h="1129204" extrusionOk="0">
                  <a:moveTo>
                    <a:pt x="45672" y="0"/>
                  </a:moveTo>
                  <a:lnTo>
                    <a:pt x="1382971" y="0"/>
                  </a:lnTo>
                  <a:cubicBezTo>
                    <a:pt x="1395084" y="0"/>
                    <a:pt x="1406701" y="4812"/>
                    <a:pt x="1415266" y="13377"/>
                  </a:cubicBezTo>
                  <a:cubicBezTo>
                    <a:pt x="1423831" y="21942"/>
                    <a:pt x="1428643" y="33559"/>
                    <a:pt x="1428643" y="45672"/>
                  </a:cubicBezTo>
                  <a:lnTo>
                    <a:pt x="1428643" y="1083532"/>
                  </a:lnTo>
                  <a:cubicBezTo>
                    <a:pt x="1428643" y="1095645"/>
                    <a:pt x="1423831" y="1107262"/>
                    <a:pt x="1415266" y="1115827"/>
                  </a:cubicBezTo>
                  <a:cubicBezTo>
                    <a:pt x="1406701" y="1124392"/>
                    <a:pt x="1395084" y="1129204"/>
                    <a:pt x="1382971" y="1129204"/>
                  </a:cubicBezTo>
                  <a:lnTo>
                    <a:pt x="45672" y="1129204"/>
                  </a:lnTo>
                  <a:cubicBezTo>
                    <a:pt x="33559" y="1129204"/>
                    <a:pt x="21942" y="1124392"/>
                    <a:pt x="13377" y="1115827"/>
                  </a:cubicBezTo>
                  <a:cubicBezTo>
                    <a:pt x="4812" y="1107262"/>
                    <a:pt x="0" y="1095645"/>
                    <a:pt x="0" y="1083532"/>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6"/>
            <p:cNvSpPr txBox="1"/>
            <p:nvPr/>
          </p:nvSpPr>
          <p:spPr>
            <a:xfrm>
              <a:off x="0" y="-47625"/>
              <a:ext cx="1428643" cy="1176829"/>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3" name="Google Shape;283;p6"/>
          <p:cNvGrpSpPr/>
          <p:nvPr/>
        </p:nvGrpSpPr>
        <p:grpSpPr>
          <a:xfrm>
            <a:off x="10297650" y="4168161"/>
            <a:ext cx="5424379" cy="4504364"/>
            <a:chOff x="0" y="-47625"/>
            <a:chExt cx="1428643" cy="1186335"/>
          </a:xfrm>
        </p:grpSpPr>
        <p:sp>
          <p:nvSpPr>
            <p:cNvPr id="284" name="Google Shape;284;p6"/>
            <p:cNvSpPr/>
            <p:nvPr/>
          </p:nvSpPr>
          <p:spPr>
            <a:xfrm>
              <a:off x="0" y="0"/>
              <a:ext cx="1428643" cy="1138710"/>
            </a:xfrm>
            <a:custGeom>
              <a:avLst/>
              <a:gdLst/>
              <a:ahLst/>
              <a:cxnLst/>
              <a:rect l="l" t="t" r="r" b="b"/>
              <a:pathLst>
                <a:path w="1428643" h="1138710" extrusionOk="0">
                  <a:moveTo>
                    <a:pt x="45672" y="0"/>
                  </a:moveTo>
                  <a:lnTo>
                    <a:pt x="1382971" y="0"/>
                  </a:lnTo>
                  <a:cubicBezTo>
                    <a:pt x="1395084" y="0"/>
                    <a:pt x="1406701" y="4812"/>
                    <a:pt x="1415266" y="13377"/>
                  </a:cubicBezTo>
                  <a:cubicBezTo>
                    <a:pt x="1423831" y="21942"/>
                    <a:pt x="1428643" y="33559"/>
                    <a:pt x="1428643" y="45672"/>
                  </a:cubicBezTo>
                  <a:lnTo>
                    <a:pt x="1428643" y="1093038"/>
                  </a:lnTo>
                  <a:cubicBezTo>
                    <a:pt x="1428643" y="1105151"/>
                    <a:pt x="1423831" y="1116768"/>
                    <a:pt x="1415266" y="1125333"/>
                  </a:cubicBezTo>
                  <a:cubicBezTo>
                    <a:pt x="1406701" y="1133898"/>
                    <a:pt x="1395084" y="1138710"/>
                    <a:pt x="1382971" y="1138710"/>
                  </a:cubicBezTo>
                  <a:lnTo>
                    <a:pt x="45672" y="1138710"/>
                  </a:lnTo>
                  <a:cubicBezTo>
                    <a:pt x="33559" y="1138710"/>
                    <a:pt x="21942" y="1133898"/>
                    <a:pt x="13377" y="1125333"/>
                  </a:cubicBezTo>
                  <a:cubicBezTo>
                    <a:pt x="4812" y="1116768"/>
                    <a:pt x="0" y="1105151"/>
                    <a:pt x="0" y="1093038"/>
                  </a:cubicBezTo>
                  <a:lnTo>
                    <a:pt x="0" y="45672"/>
                  </a:lnTo>
                  <a:cubicBezTo>
                    <a:pt x="0" y="33559"/>
                    <a:pt x="4812" y="21942"/>
                    <a:pt x="13377" y="13377"/>
                  </a:cubicBezTo>
                  <a:cubicBezTo>
                    <a:pt x="21942" y="4812"/>
                    <a:pt x="33559" y="0"/>
                    <a:pt x="45672" y="0"/>
                  </a:cubicBezTo>
                  <a:close/>
                </a:path>
              </a:pathLst>
            </a:custGeom>
            <a:gradFill>
              <a:gsLst>
                <a:gs pos="0">
                  <a:srgbClr val="7CCE6B">
                    <a:alpha val="21176"/>
                  </a:srgbClr>
                </a:gs>
                <a:gs pos="100000">
                  <a:srgbClr val="D8FFD0">
                    <a:alpha val="21176"/>
                  </a:srgbClr>
                </a:gs>
              </a:gsLst>
              <a:lin ang="5400000" scaled="0"/>
            </a:gradFill>
            <a:ln w="38100" cap="rnd" cmpd="sng">
              <a:solidFill>
                <a:srgbClr val="0E6B2D">
                  <a:alpha val="20784"/>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6"/>
            <p:cNvSpPr txBox="1"/>
            <p:nvPr/>
          </p:nvSpPr>
          <p:spPr>
            <a:xfrm>
              <a:off x="0" y="-47625"/>
              <a:ext cx="1428643" cy="118633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6" name="Google Shape;286;p6"/>
          <p:cNvGrpSpPr/>
          <p:nvPr/>
        </p:nvGrpSpPr>
        <p:grpSpPr>
          <a:xfrm>
            <a:off x="0" y="9382274"/>
            <a:ext cx="18294472" cy="904726"/>
            <a:chOff x="0" y="-47625"/>
            <a:chExt cx="5001389" cy="238282"/>
          </a:xfrm>
        </p:grpSpPr>
        <p:sp>
          <p:nvSpPr>
            <p:cNvPr id="287" name="Google Shape;287;p6"/>
            <p:cNvSpPr/>
            <p:nvPr/>
          </p:nvSpPr>
          <p:spPr>
            <a:xfrm>
              <a:off x="0" y="0"/>
              <a:ext cx="5001389" cy="190657"/>
            </a:xfrm>
            <a:custGeom>
              <a:avLst/>
              <a:gdLst/>
              <a:ahLst/>
              <a:cxnLst/>
              <a:rect l="l" t="t" r="r" b="b"/>
              <a:pathLst>
                <a:path w="5001389" h="190657" extrusionOk="0">
                  <a:moveTo>
                    <a:pt x="0" y="0"/>
                  </a:moveTo>
                  <a:lnTo>
                    <a:pt x="5001389" y="0"/>
                  </a:lnTo>
                  <a:lnTo>
                    <a:pt x="5001389" y="190657"/>
                  </a:lnTo>
                  <a:lnTo>
                    <a:pt x="0" y="190657"/>
                  </a:lnTo>
                  <a:close/>
                </a:path>
              </a:pathLst>
            </a:custGeom>
            <a:solidFill>
              <a:srgbClr val="0E6B2D"/>
            </a:solidFill>
            <a:ln w="38100" cap="sq" cmpd="sng">
              <a:solidFill>
                <a:srgbClr val="FCEE7B"/>
              </a:solidFill>
              <a:prstDash val="solid"/>
              <a:miter lim="8000"/>
              <a:headEnd type="none" w="sm" len="sm"/>
              <a:tailEnd type="none" w="sm" len="sm"/>
            </a:ln>
          </p:spPr>
        </p:sp>
        <p:sp>
          <p:nvSpPr>
            <p:cNvPr id="288" name="Google Shape;288;p6"/>
            <p:cNvSpPr txBox="1"/>
            <p:nvPr/>
          </p:nvSpPr>
          <p:spPr>
            <a:xfrm>
              <a:off x="0" y="-47625"/>
              <a:ext cx="5001388" cy="238282"/>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9" name="Google Shape;289;p6"/>
          <p:cNvGrpSpPr/>
          <p:nvPr/>
        </p:nvGrpSpPr>
        <p:grpSpPr>
          <a:xfrm>
            <a:off x="8895465" y="9662418"/>
            <a:ext cx="497071" cy="497071"/>
            <a:chOff x="0" y="0"/>
            <a:chExt cx="812800" cy="812800"/>
          </a:xfrm>
        </p:grpSpPr>
        <p:sp>
          <p:nvSpPr>
            <p:cNvPr id="290" name="Google Shape;290;p6"/>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4AAD3C"/>
                </a:gs>
                <a:gs pos="100000">
                  <a:srgbClr val="4AAD3C">
                    <a:alpha val="0"/>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92" name="Google Shape;292;p6"/>
          <p:cNvGrpSpPr/>
          <p:nvPr/>
        </p:nvGrpSpPr>
        <p:grpSpPr>
          <a:xfrm>
            <a:off x="17411864" y="9492448"/>
            <a:ext cx="882604" cy="780455"/>
            <a:chOff x="0" y="-47625"/>
            <a:chExt cx="743246" cy="657225"/>
          </a:xfrm>
        </p:grpSpPr>
        <p:sp>
          <p:nvSpPr>
            <p:cNvPr id="293" name="Google Shape;293;p6"/>
            <p:cNvSpPr/>
            <p:nvPr/>
          </p:nvSpPr>
          <p:spPr>
            <a:xfrm>
              <a:off x="0" y="0"/>
              <a:ext cx="743246" cy="609600"/>
            </a:xfrm>
            <a:custGeom>
              <a:avLst/>
              <a:gdLst/>
              <a:ahLst/>
              <a:cxnLst/>
              <a:rect l="l" t="t" r="r" b="b"/>
              <a:pathLst>
                <a:path w="743246" h="609600" extrusionOk="0">
                  <a:moveTo>
                    <a:pt x="203200" y="0"/>
                  </a:moveTo>
                  <a:lnTo>
                    <a:pt x="743246" y="0"/>
                  </a:lnTo>
                  <a:lnTo>
                    <a:pt x="540046" y="609600"/>
                  </a:lnTo>
                  <a:lnTo>
                    <a:pt x="0" y="609600"/>
                  </a:lnTo>
                  <a:lnTo>
                    <a:pt x="203200" y="0"/>
                  </a:lnTo>
                  <a:close/>
                </a:path>
              </a:pathLst>
            </a:custGeom>
            <a:solidFill>
              <a:srgbClr val="FFD400"/>
            </a:solidFill>
            <a:ln>
              <a:noFill/>
            </a:ln>
          </p:spPr>
        </p:sp>
        <p:sp>
          <p:nvSpPr>
            <p:cNvPr id="294" name="Google Shape;294;p6"/>
            <p:cNvSpPr txBox="1"/>
            <p:nvPr/>
          </p:nvSpPr>
          <p:spPr>
            <a:xfrm>
              <a:off x="101600" y="-47625"/>
              <a:ext cx="540046" cy="6572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95" name="Google Shape;295;p6"/>
          <p:cNvSpPr txBox="1"/>
          <p:nvPr/>
        </p:nvSpPr>
        <p:spPr>
          <a:xfrm>
            <a:off x="6206219" y="2424756"/>
            <a:ext cx="6803620" cy="8001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n-US" sz="5000" b="1" i="0" u="none" strike="noStrike" cap="none">
                <a:solidFill>
                  <a:srgbClr val="FFFFFF"/>
                </a:solidFill>
                <a:latin typeface="Roboto"/>
                <a:ea typeface="Roboto"/>
                <a:cs typeface="Roboto"/>
                <a:sym typeface="Roboto"/>
              </a:rPr>
              <a:t>TÀI LIỆU HỌC TẬP</a:t>
            </a:r>
            <a:endParaRPr/>
          </a:p>
        </p:txBody>
      </p:sp>
      <p:sp>
        <p:nvSpPr>
          <p:cNvPr id="296" name="Google Shape;296;p6"/>
          <p:cNvSpPr txBox="1"/>
          <p:nvPr/>
        </p:nvSpPr>
        <p:spPr>
          <a:xfrm>
            <a:off x="8842248" y="9649968"/>
            <a:ext cx="612648" cy="46482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700" b="0" i="0" u="none" strike="noStrike" cap="none">
                <a:solidFill>
                  <a:srgbClr val="FFFFFF"/>
                </a:solidFill>
                <a:latin typeface="Roboto"/>
                <a:ea typeface="Roboto"/>
                <a:cs typeface="Roboto"/>
                <a:sym typeface="Roboto"/>
              </a:rPr>
              <a:t>49</a:t>
            </a:r>
            <a:endParaRPr/>
          </a:p>
        </p:txBody>
      </p:sp>
      <p:sp>
        <p:nvSpPr>
          <p:cNvPr id="297" name="Google Shape;297;p6"/>
          <p:cNvSpPr txBox="1"/>
          <p:nvPr/>
        </p:nvSpPr>
        <p:spPr>
          <a:xfrm>
            <a:off x="612388" y="9702991"/>
            <a:ext cx="4976455" cy="358774"/>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000" b="0" i="0" u="none" strike="noStrike" cap="none">
                <a:solidFill>
                  <a:srgbClr val="FFFFFF"/>
                </a:solidFill>
                <a:latin typeface="Roboto"/>
                <a:ea typeface="Roboto"/>
                <a:cs typeface="Roboto"/>
                <a:sym typeface="Roboto"/>
              </a:rPr>
              <a:t>Học liệu số - Đào tạo từ xa</a:t>
            </a:r>
            <a:endParaRPr/>
          </a:p>
        </p:txBody>
      </p:sp>
      <p:sp>
        <p:nvSpPr>
          <p:cNvPr id="298" name="Google Shape;298;p6"/>
          <p:cNvSpPr txBox="1"/>
          <p:nvPr/>
        </p:nvSpPr>
        <p:spPr>
          <a:xfrm>
            <a:off x="1224946"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Giáo trình chính</a:t>
            </a:r>
            <a:endParaRPr/>
          </a:p>
        </p:txBody>
      </p:sp>
      <p:sp>
        <p:nvSpPr>
          <p:cNvPr id="299" name="Google Shape;299;p6"/>
          <p:cNvSpPr txBox="1"/>
          <p:nvPr/>
        </p:nvSpPr>
        <p:spPr>
          <a:xfrm>
            <a:off x="9027059" y="5048250"/>
            <a:ext cx="8068459" cy="781050"/>
          </a:xfrm>
          <a:prstGeom prst="rect">
            <a:avLst/>
          </a:prstGeom>
          <a:noFill/>
          <a:ln>
            <a:noFill/>
          </a:ln>
        </p:spPr>
        <p:txBody>
          <a:bodyPr spcFirstLastPara="1" wrap="square" lIns="0" tIns="0" rIns="0" bIns="0" anchor="t" anchorCtr="0">
            <a:spAutoFit/>
          </a:bodyPr>
          <a:lstStyle/>
          <a:p>
            <a:pPr marL="0" marR="0" lvl="0" indent="0" algn="ctr" rtl="0">
              <a:lnSpc>
                <a:spcPct val="139977"/>
              </a:lnSpc>
              <a:spcBef>
                <a:spcPts val="0"/>
              </a:spcBef>
              <a:spcAft>
                <a:spcPts val="0"/>
              </a:spcAft>
              <a:buNone/>
            </a:pPr>
            <a:r>
              <a:rPr lang="en-US" sz="4500" b="1" i="0" u="none" strike="noStrike" cap="none">
                <a:solidFill>
                  <a:srgbClr val="0E6B2D"/>
                </a:solidFill>
                <a:latin typeface="Roboto"/>
                <a:ea typeface="Roboto"/>
                <a:cs typeface="Roboto"/>
                <a:sym typeface="Roboto"/>
              </a:rPr>
              <a:t>Tài liệu tham khảo</a:t>
            </a:r>
            <a:endParaRPr/>
          </a:p>
        </p:txBody>
      </p:sp>
      <p:sp>
        <p:nvSpPr>
          <p:cNvPr id="300" name="Google Shape;300;p6"/>
          <p:cNvSpPr/>
          <p:nvPr/>
        </p:nvSpPr>
        <p:spPr>
          <a:xfrm>
            <a:off x="10815572" y="8672525"/>
            <a:ext cx="4388535" cy="348669"/>
          </a:xfrm>
          <a:custGeom>
            <a:avLst/>
            <a:gdLst/>
            <a:ahLst/>
            <a:cxnLst/>
            <a:rect l="l" t="t" r="r" b="b"/>
            <a:pathLst>
              <a:path w="4388535" h="348669" extrusionOk="0">
                <a:moveTo>
                  <a:pt x="0" y="0"/>
                </a:moveTo>
                <a:lnTo>
                  <a:pt x="4388535" y="0"/>
                </a:lnTo>
                <a:lnTo>
                  <a:pt x="4388535" y="348669"/>
                </a:lnTo>
                <a:lnTo>
                  <a:pt x="0" y="348669"/>
                </a:lnTo>
                <a:lnTo>
                  <a:pt x="0" y="0"/>
                </a:lnTo>
                <a:close/>
              </a:path>
            </a:pathLst>
          </a:custGeom>
          <a:blipFill rotWithShape="1">
            <a:blip r:embed="rId2">
              <a:alphaModFix amt="72000"/>
            </a:blip>
            <a:stretch>
              <a:fillRect t="-47892"/>
            </a:stretch>
          </a:blipFill>
          <a:ln>
            <a:noFill/>
          </a:ln>
        </p:spPr>
        <p:txBody>
          <a:bodyPr/>
          <a:p/>
        </p:txBody>
      </p:sp>
      <p:sp>
        <p:nvSpPr>
          <p:cNvPr id="301" name="Google Shape;301;p6"/>
          <p:cNvSpPr txBox="1"/>
          <p:nvPr/>
        </p:nvSpPr>
        <p:spPr>
          <a:xfrm>
            <a:off x="1606565" y="150093"/>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TRƯỜNG ĐẠI HỌC CÔNG NGHỆ KỸ THUẬT VĨNH LONG</a:t>
            </a:r>
            <a:endParaRPr sz="2700" b="1" i="0" u="none" strike="noStrike" cap="none">
              <a:solidFill>
                <a:srgbClr val="183B05"/>
              </a:solidFill>
              <a:latin typeface="Roboto"/>
              <a:ea typeface="Roboto"/>
              <a:cs typeface="Roboto"/>
              <a:sym typeface="Roboto"/>
            </a:endParaRPr>
          </a:p>
        </p:txBody>
      </p:sp>
      <p:sp>
        <p:nvSpPr>
          <p:cNvPr id="302" name="Google Shape;302;p6"/>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183B05"/>
                </a:solidFill>
                <a:latin typeface="Roboto"/>
                <a:ea typeface="Roboto"/>
                <a:cs typeface="Roboto"/>
                <a:sym typeface="Roboto"/>
              </a:rPr>
              <a:t>KHOA KINH DOANH VÀ LUẬT</a:t>
            </a:r>
            <a:endParaRPr/>
          </a:p>
        </p:txBody>
      </p:sp>
      <p:sp>
        <p:nvSpPr>
          <p:cNvPr id="303" name="Google Shape;303;p6"/>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3">
              <a:alphaModFix/>
            </a:blip>
            <a:stretch>
              <a:fillRect/>
            </a:stretch>
          </a:blipFill>
          <a:ln>
            <a:noFill/>
          </a:ln>
        </p:spPr>
        <p:txBody>
          <a:bodyPr/>
          <a:p/>
        </p:txBody>
      </p:sp>
      <p:sp>
        <p:nvSpPr>
          <p:cNvPr id="304" name="TextBox 303"/>
          <p:cNvSpPr txBox="1"/>
          <p:nvPr/>
        </p:nvSpPr>
        <p:spPr>
          <a:xfrm>
            <a:off x="2788920" y="6144768"/>
            <a:ext cx="4983480" cy="457200"/>
          </a:xfrm>
          <a:prstGeom prst="rect">
            <a:avLst/>
          </a:prstGeom>
          <a:noFill/>
        </p:spPr>
        <p:txBody>
          <a:bodyPr wrap="square" lIns="0" tIns="0">
            <a:spAutoFit/>
          </a:bodyPr>
          <a:lstStyle/>
          <a:p>
            <a:pPr>
              <a:spcBef>
                <a:spcPts val="0"/>
              </a:spcBef>
            </a:pPr>
            <a:r>
              <a:rPr sz="1800">
                <a:solidFill>
                  <a:srgbClr val="212121"/>
                </a:solidFill>
                <a:latin typeface="Roboto"/>
              </a:rPr>
              <a:t>[1] Hà Nam Khánh Giao (2023), Giáo trình giao tiếp kinh doanh, NXB Tài chính.</a:t>
            </a:r>
          </a:p>
        </p:txBody>
      </p:sp>
      <p:sp>
        <p:nvSpPr>
          <p:cNvPr id="305" name="TextBox 304"/>
          <p:cNvSpPr txBox="1"/>
          <p:nvPr/>
        </p:nvSpPr>
        <p:spPr>
          <a:xfrm>
            <a:off x="10515600" y="6144768"/>
            <a:ext cx="4983480" cy="457200"/>
          </a:xfrm>
          <a:prstGeom prst="rect">
            <a:avLst/>
          </a:prstGeom>
          <a:noFill/>
        </p:spPr>
        <p:txBody>
          <a:bodyPr wrap="square" lIns="0" tIns="0">
            <a:spAutoFit/>
          </a:bodyPr>
          <a:lstStyle/>
          <a:p>
            <a:pPr>
              <a:spcBef>
                <a:spcPts val="0"/>
              </a:spcBef>
            </a:pPr>
            <a:r>
              <a:rPr sz="1700">
                <a:solidFill>
                  <a:srgbClr val="212121"/>
                </a:solidFill>
                <a:latin typeface="Roboto"/>
              </a:rPr>
              <a:t>[1] Hoàng Đức Thân (2023), Giáo trình giao dịch và đàm phán kinh doanh, NXB Đại học Kinh tế Quốc Dân.</a:t>
            </a:r>
          </a:p>
          <a:p>
            <a:pPr>
              <a:spcBef>
                <a:spcPts val="1000"/>
              </a:spcBef>
            </a:pPr>
            <a:r>
              <a:rPr sz="1700">
                <a:solidFill>
                  <a:srgbClr val="212121"/>
                </a:solidFill>
                <a:latin typeface="Roboto"/>
              </a:rPr>
              <a:t>[2] Nguyễn Văn Hùng (2023), Giáo trình kỹ năng giao tiếp, NXB Tài chính.</a:t>
            </a:r>
          </a:p>
          <a:p>
            <a:pPr>
              <a:spcBef>
                <a:spcPts val="1000"/>
              </a:spcBef>
            </a:pPr>
            <a:r>
              <a:rPr sz="1700">
                <a:solidFill>
                  <a:srgbClr val="212121"/>
                </a:solidFill>
                <a:latin typeface="Roboto"/>
              </a:rPr>
              <a:t>Tài liệu khác:</a:t>
            </a:r>
          </a:p>
          <a:p>
            <a:pPr>
              <a:spcBef>
                <a:spcPts val="1000"/>
              </a:spcBef>
            </a:pPr>
            <a:r>
              <a:rPr sz="1700">
                <a:solidFill>
                  <a:srgbClr val="212121"/>
                </a:solidFill>
                <a:latin typeface="Roboto"/>
              </a:rPr>
              <a:t>[1] Nghị định số 30/2020/NĐ-CP ngày 05/3/2020 của Chính phủ về công tác văn thư.</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94424"/>
        </a:solidFill>
        <a:effectLst/>
      </p:bgPr>
    </p:bg>
    <p:spTree>
      <p:nvGrpSpPr>
        <p:cNvPr id="1" name=""/>
        <p:cNvGrpSpPr/>
        <p:nvPr/>
      </p:nvGrpSpPr>
      <p:grpSpPr/>
      <p:sp>
        <p:nvSpPr>
          <p:cNvPr id="472" name="Google Shape;472;p11"/>
          <p:cNvSpPr/>
          <p:nvPr/>
        </p:nvSpPr>
        <p:spPr>
          <a:xfrm>
            <a:off x="0" y="-1896075"/>
            <a:ext cx="18288000" cy="12183075"/>
          </a:xfrm>
          <a:custGeom>
            <a:avLst/>
            <a:gdLst/>
            <a:ahLst/>
            <a:cxnLst/>
            <a:rect l="l" t="t" r="r" b="b"/>
            <a:pathLst>
              <a:path w="18288000" h="12183075" extrusionOk="0">
                <a:moveTo>
                  <a:pt x="0" y="0"/>
                </a:moveTo>
                <a:lnTo>
                  <a:pt x="18288000" y="0"/>
                </a:lnTo>
                <a:lnTo>
                  <a:pt x="18288000" y="12183075"/>
                </a:lnTo>
                <a:lnTo>
                  <a:pt x="0" y="12183075"/>
                </a:lnTo>
                <a:lnTo>
                  <a:pt x="0" y="0"/>
                </a:lnTo>
                <a:close/>
              </a:path>
            </a:pathLst>
          </a:custGeom>
          <a:blipFill rotWithShape="1">
            <a:blip r:embed="rId3">
              <a:alphaModFix amt="7999"/>
            </a:blip>
            <a:stretch>
              <a:fillRect/>
            </a:stretch>
          </a:blipFill>
          <a:ln>
            <a:noFill/>
          </a:ln>
        </p:spPr>
        <p:txBody>
          <a:bodyPr/>
          <a:p/>
        </p:txBody>
      </p:sp>
      <p:grpSp>
        <p:nvGrpSpPr>
          <p:cNvPr id="473" name="Google Shape;473;p11"/>
          <p:cNvGrpSpPr/>
          <p:nvPr/>
        </p:nvGrpSpPr>
        <p:grpSpPr>
          <a:xfrm rot="5400000">
            <a:off x="14602455" y="-1388381"/>
            <a:ext cx="4599571" cy="4599571"/>
            <a:chOff x="0" y="0"/>
            <a:chExt cx="812800" cy="812800"/>
          </a:xfrm>
        </p:grpSpPr>
        <p:sp>
          <p:nvSpPr>
            <p:cNvPr id="474" name="Google Shape;474;p11"/>
            <p:cNvSpPr/>
            <p:nvPr/>
          </p:nvSpPr>
          <p:spPr>
            <a:xfrm>
              <a:off x="0" y="0"/>
              <a:ext cx="812800" cy="812800"/>
            </a:xfrm>
            <a:custGeom>
              <a:avLst/>
              <a:gdLst/>
              <a:ahLst/>
              <a:cxnLst/>
              <a:rect l="l" t="t" r="r" b="b"/>
              <a:pathLst>
                <a:path w="812800" h="812800"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a:gsLst>
                <a:gs pos="0">
                  <a:srgbClr val="90DF44">
                    <a:alpha val="40000"/>
                  </a:srgbClr>
                </a:gs>
                <a:gs pos="100000">
                  <a:srgbClr val="90DF44">
                    <a:alpha val="3529"/>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11"/>
            <p:cNvSpPr txBox="1"/>
            <p:nvPr/>
          </p:nvSpPr>
          <p:spPr>
            <a:xfrm>
              <a:off x="76200" y="28575"/>
              <a:ext cx="660400" cy="708025"/>
            </a:xfrm>
            <a:prstGeom prst="rect">
              <a:avLst/>
            </a:prstGeom>
            <a:noFill/>
            <a:ln>
              <a:noFill/>
            </a:ln>
          </p:spPr>
          <p:txBody>
            <a:bodyPr spcFirstLastPara="1" wrap="square" lIns="50800" tIns="50800" rIns="50800" bIns="50800" anchor="ctr" anchorCtr="0">
              <a:noAutofit/>
            </a:bodyPr>
            <a:lstStyle/>
            <a:p>
              <a:pPr marL="0" marR="0" lvl="0" indent="0" algn="ctr" rtl="0">
                <a:lnSpc>
                  <a:spcPct val="155555"/>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76" name="Google Shape;476;p11"/>
          <p:cNvSpPr/>
          <p:nvPr/>
        </p:nvSpPr>
        <p:spPr>
          <a:xfrm rot="10800000" flipH="1">
            <a:off x="0" y="-196829"/>
            <a:ext cx="1864602" cy="2216467"/>
          </a:xfrm>
          <a:custGeom>
            <a:avLst/>
            <a:gdLst/>
            <a:ahLst/>
            <a:cxnLst/>
            <a:rect l="l" t="t" r="r" b="b"/>
            <a:pathLst>
              <a:path w="1864602" h="2216467" extrusionOk="0">
                <a:moveTo>
                  <a:pt x="0" y="2216467"/>
                </a:moveTo>
                <a:lnTo>
                  <a:pt x="1864602" y="2216467"/>
                </a:lnTo>
                <a:lnTo>
                  <a:pt x="1864602" y="0"/>
                </a:lnTo>
                <a:lnTo>
                  <a:pt x="0" y="0"/>
                </a:lnTo>
                <a:lnTo>
                  <a:pt x="0" y="2216467"/>
                </a:lnTo>
                <a:close/>
              </a:path>
            </a:pathLst>
          </a:custGeom>
          <a:blipFill rotWithShape="1">
            <a:blip r:embed="rId7">
              <a:alphaModFix/>
            </a:blip>
            <a:stretch>
              <a:fillRect/>
            </a:stretch>
          </a:blipFill>
          <a:ln>
            <a:noFill/>
          </a:ln>
        </p:spPr>
        <p:txBody>
          <a:bodyPr/>
          <a:p/>
        </p:txBody>
      </p:sp>
      <p:sp>
        <p:nvSpPr>
          <p:cNvPr id="477" name="Google Shape;477;p11"/>
          <p:cNvSpPr/>
          <p:nvPr/>
        </p:nvSpPr>
        <p:spPr>
          <a:xfrm>
            <a:off x="17259300" y="5459045"/>
            <a:ext cx="1584452" cy="1563986"/>
          </a:xfrm>
          <a:custGeom>
            <a:avLst/>
            <a:gdLst/>
            <a:ahLst/>
            <a:cxnLst/>
            <a:rect l="l" t="t" r="r" b="b"/>
            <a:pathLst>
              <a:path w="1584452" h="1563986" extrusionOk="0">
                <a:moveTo>
                  <a:pt x="0" y="0"/>
                </a:moveTo>
                <a:lnTo>
                  <a:pt x="1584452" y="0"/>
                </a:lnTo>
                <a:lnTo>
                  <a:pt x="1584452" y="1563987"/>
                </a:lnTo>
                <a:lnTo>
                  <a:pt x="0" y="1563987"/>
                </a:lnTo>
                <a:lnTo>
                  <a:pt x="0" y="0"/>
                </a:lnTo>
                <a:close/>
              </a:path>
            </a:pathLst>
          </a:custGeom>
          <a:blipFill rotWithShape="1">
            <a:blip r:embed="rId6">
              <a:alphaModFix/>
            </a:blip>
            <a:stretch>
              <a:fillRect/>
            </a:stretch>
          </a:blipFill>
          <a:ln>
            <a:noFill/>
          </a:ln>
        </p:spPr>
        <p:txBody>
          <a:bodyPr/>
          <a:p/>
        </p:txBody>
      </p:sp>
      <p:sp>
        <p:nvSpPr>
          <p:cNvPr id="478" name="Google Shape;478;p11"/>
          <p:cNvSpPr/>
          <p:nvPr/>
        </p:nvSpPr>
        <p:spPr>
          <a:xfrm>
            <a:off x="1028700"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5">
              <a:alphaModFix/>
            </a:blip>
            <a:stretch>
              <a:fillRect/>
            </a:stretch>
          </a:blipFill>
          <a:ln>
            <a:noFill/>
          </a:ln>
        </p:spPr>
        <p:txBody>
          <a:bodyPr/>
          <a:p/>
        </p:txBody>
      </p:sp>
      <p:sp>
        <p:nvSpPr>
          <p:cNvPr id="479" name="Google Shape;479;p11"/>
          <p:cNvSpPr/>
          <p:nvPr/>
        </p:nvSpPr>
        <p:spPr>
          <a:xfrm>
            <a:off x="7095005" y="8367246"/>
            <a:ext cx="891054" cy="891054"/>
          </a:xfrm>
          <a:custGeom>
            <a:avLst/>
            <a:gdLst/>
            <a:ahLst/>
            <a:cxnLst/>
            <a:rect l="l" t="t" r="r" b="b"/>
            <a:pathLst>
              <a:path w="891054" h="891054" extrusionOk="0">
                <a:moveTo>
                  <a:pt x="0" y="0"/>
                </a:moveTo>
                <a:lnTo>
                  <a:pt x="891054" y="0"/>
                </a:lnTo>
                <a:lnTo>
                  <a:pt x="891054" y="891054"/>
                </a:lnTo>
                <a:lnTo>
                  <a:pt x="0" y="891054"/>
                </a:lnTo>
                <a:lnTo>
                  <a:pt x="0" y="0"/>
                </a:lnTo>
                <a:close/>
              </a:path>
            </a:pathLst>
          </a:custGeom>
          <a:blipFill rotWithShape="1">
            <a:blip r:embed="rId4">
              <a:alphaModFix/>
            </a:blip>
            <a:stretch>
              <a:fillRect/>
            </a:stretch>
          </a:blipFill>
          <a:ln>
            <a:noFill/>
          </a:ln>
        </p:spPr>
        <p:txBody>
          <a:bodyPr/>
          <a:p/>
        </p:txBody>
      </p:sp>
      <p:sp>
        <p:nvSpPr>
          <p:cNvPr id="480" name="Google Shape;480;p11"/>
          <p:cNvSpPr txBox="1"/>
          <p:nvPr/>
        </p:nvSpPr>
        <p:spPr>
          <a:xfrm>
            <a:off x="1491585" y="109647"/>
            <a:ext cx="10758645" cy="45204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TRƯỜNG ĐẠI HỌC CÔNG NGHỆ KỸ THUẬT VĨNH LONG</a:t>
            </a:r>
            <a:endParaRPr sz="2700" b="1" i="0" u="none" strike="noStrike" cap="none">
              <a:solidFill>
                <a:srgbClr val="FFFFFF"/>
              </a:solidFill>
              <a:latin typeface="Roboto"/>
              <a:ea typeface="Roboto"/>
              <a:cs typeface="Roboto"/>
              <a:sym typeface="Roboto"/>
            </a:endParaRPr>
          </a:p>
        </p:txBody>
      </p:sp>
      <p:sp>
        <p:nvSpPr>
          <p:cNvPr id="481" name="Google Shape;481;p11"/>
          <p:cNvSpPr txBox="1"/>
          <p:nvPr/>
        </p:nvSpPr>
        <p:spPr>
          <a:xfrm>
            <a:off x="9898006" y="151993"/>
            <a:ext cx="8244099" cy="452047"/>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n-US" sz="2700" b="1" i="0" u="none" strike="noStrike" cap="none">
                <a:solidFill>
                  <a:srgbClr val="FFFFFF"/>
                </a:solidFill>
                <a:latin typeface="Roboto"/>
                <a:ea typeface="Roboto"/>
                <a:cs typeface="Roboto"/>
                <a:sym typeface="Roboto"/>
              </a:rPr>
              <a:t>KHOA KINH DOANH VÀ LUẬT</a:t>
            </a:r>
            <a:endParaRPr/>
          </a:p>
        </p:txBody>
      </p:sp>
      <p:sp>
        <p:nvSpPr>
          <p:cNvPr id="482" name="Google Shape;482;p11"/>
          <p:cNvSpPr txBox="1"/>
          <p:nvPr/>
        </p:nvSpPr>
        <p:spPr>
          <a:xfrm>
            <a:off x="2426917" y="3217794"/>
            <a:ext cx="13434166" cy="1203325"/>
          </a:xfrm>
          <a:prstGeom prst="rect">
            <a:avLst/>
          </a:prstGeom>
          <a:noFill/>
          <a:ln>
            <a:noFill/>
          </a:ln>
        </p:spPr>
        <p:txBody>
          <a:bodyPr spcFirstLastPara="1" wrap="square" lIns="0" tIns="0" rIns="0" bIns="0" anchor="t" anchorCtr="0">
            <a:spAutoFit/>
          </a:bodyPr>
          <a:lstStyle/>
          <a:p>
            <a:pPr marL="0" marR="0" lvl="0" indent="0" algn="ctr" rtl="0">
              <a:lnSpc>
                <a:spcPct val="140005"/>
              </a:lnSpc>
              <a:spcBef>
                <a:spcPts val="0"/>
              </a:spcBef>
              <a:spcAft>
                <a:spcPts val="0"/>
              </a:spcAft>
              <a:buNone/>
            </a:pPr>
            <a:r>
              <a:rPr lang="en-US" sz="6999" b="1" i="0" u="none" strike="noStrike" cap="none">
                <a:solidFill>
                  <a:srgbClr val="FFFFFF"/>
                </a:solidFill>
                <a:latin typeface="Roboto"/>
                <a:ea typeface="Roboto"/>
                <a:cs typeface="Roboto"/>
                <a:sym typeface="Roboto"/>
              </a:rPr>
              <a:t>CẢM ƠN CÁC BẠN ĐÃ THEO DÕI</a:t>
            </a:r>
            <a:endParaRPr/>
          </a:p>
        </p:txBody>
      </p:sp>
      <p:sp>
        <p:nvSpPr>
          <p:cNvPr id="483" name="Google Shape;483;p11"/>
          <p:cNvSpPr txBox="1"/>
          <p:nvPr/>
        </p:nvSpPr>
        <p:spPr>
          <a:xfrm>
            <a:off x="3318670" y="4484320"/>
            <a:ext cx="11351851" cy="863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000" b="1" i="0" u="none" strike="noStrike" cap="none">
                <a:solidFill>
                  <a:srgbClr val="FFD400"/>
                </a:solidFill>
                <a:latin typeface="Roboto"/>
                <a:ea typeface="Roboto"/>
                <a:cs typeface="Roboto"/>
                <a:sym typeface="Roboto"/>
              </a:rPr>
              <a:t>HỌC LIỆU SỐ - ĐÀO TẠO TỪ XA</a:t>
            </a:r>
            <a:endParaRPr/>
          </a:p>
        </p:txBody>
      </p:sp>
      <p:sp>
        <p:nvSpPr>
          <p:cNvPr id="484" name="Google Shape;484;p11"/>
          <p:cNvSpPr txBox="1"/>
          <p:nvPr/>
        </p:nvSpPr>
        <p:spPr>
          <a:xfrm>
            <a:off x="3468075" y="5432357"/>
            <a:ext cx="11351851" cy="159067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Khoa Kinh doanh và Luật</a:t>
            </a:r>
            <a:endParaRPr/>
          </a:p>
          <a:p>
            <a:pPr marL="0" marR="0" lvl="0" indent="0" algn="ctr" rtl="0">
              <a:lnSpc>
                <a:spcPct val="140000"/>
              </a:lnSpc>
              <a:spcBef>
                <a:spcPts val="0"/>
              </a:spcBef>
              <a:spcAft>
                <a:spcPts val="0"/>
              </a:spcAft>
              <a:buNone/>
            </a:pPr>
            <a:r>
              <a:rPr lang="en-US" sz="4500" b="1" i="0" u="none" strike="noStrike" cap="none">
                <a:solidFill>
                  <a:srgbClr val="FFFFFF"/>
                </a:solidFill>
                <a:latin typeface="Roboto"/>
                <a:ea typeface="Roboto"/>
                <a:cs typeface="Roboto"/>
                <a:sym typeface="Roboto"/>
              </a:rPr>
              <a:t>Trường Đại học Công nghệ Kỹ thuật Vĩnh Long</a:t>
            </a:r>
            <a:endParaRPr/>
          </a:p>
        </p:txBody>
      </p:sp>
      <p:sp>
        <p:nvSpPr>
          <p:cNvPr id="485" name="Google Shape;485;p11"/>
          <p:cNvSpPr txBox="1"/>
          <p:nvPr/>
        </p:nvSpPr>
        <p:spPr>
          <a:xfrm>
            <a:off x="2162938"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fel@vlute.edu.vn</a:t>
            </a:r>
            <a:endParaRPr sz="3000" b="0" i="0" u="none" strike="noStrike" cap="none">
              <a:solidFill>
                <a:srgbClr val="FFFFFF"/>
              </a:solidFill>
              <a:latin typeface="Roboto"/>
              <a:ea typeface="Roboto"/>
              <a:cs typeface="Roboto"/>
              <a:sym typeface="Roboto"/>
            </a:endParaRPr>
          </a:p>
        </p:txBody>
      </p:sp>
      <p:sp>
        <p:nvSpPr>
          <p:cNvPr id="486" name="Google Shape;486;p11"/>
          <p:cNvSpPr txBox="1"/>
          <p:nvPr/>
        </p:nvSpPr>
        <p:spPr>
          <a:xfrm>
            <a:off x="8386332" y="8507973"/>
            <a:ext cx="4236915" cy="50013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3000" b="0" i="0" u="none" strike="noStrike" cap="none">
                <a:solidFill>
                  <a:srgbClr val="FFFFFF"/>
                </a:solidFill>
                <a:latin typeface="Roboto"/>
                <a:ea typeface="Roboto"/>
                <a:cs typeface="Roboto"/>
                <a:sym typeface="Roboto"/>
              </a:rPr>
              <a:t>https://vlute.edu.vn</a:t>
            </a:r>
            <a:endParaRPr sz="3000" b="0" i="0" u="none" strike="noStrike" cap="none">
              <a:solidFill>
                <a:srgbClr val="FFFFFF"/>
              </a:solidFill>
              <a:latin typeface="Roboto"/>
              <a:ea typeface="Roboto"/>
              <a:cs typeface="Roboto"/>
              <a:sym typeface="Roboto"/>
            </a:endParaRPr>
          </a:p>
        </p:txBody>
      </p:sp>
      <p:sp>
        <p:nvSpPr>
          <p:cNvPr id="487" name="Google Shape;487;p11"/>
          <p:cNvSpPr/>
          <p:nvPr/>
        </p:nvSpPr>
        <p:spPr>
          <a:xfrm>
            <a:off x="29389" y="-25432"/>
            <a:ext cx="1451168" cy="1276381"/>
          </a:xfrm>
          <a:custGeom>
            <a:avLst/>
            <a:gdLst/>
            <a:ahLst/>
            <a:cxnLst/>
            <a:rect l="l" t="t" r="r" b="b"/>
            <a:pathLst>
              <a:path w="1641115" h="1646495" extrusionOk="0">
                <a:moveTo>
                  <a:pt x="0" y="0"/>
                </a:moveTo>
                <a:lnTo>
                  <a:pt x="1641115" y="0"/>
                </a:lnTo>
                <a:lnTo>
                  <a:pt x="1641115" y="1646495"/>
                </a:lnTo>
                <a:lnTo>
                  <a:pt x="0" y="1646495"/>
                </a:lnTo>
                <a:lnTo>
                  <a:pt x="0" y="0"/>
                </a:lnTo>
                <a:close/>
              </a:path>
            </a:pathLst>
          </a:custGeom>
          <a:blipFill rotWithShape="1">
            <a:blip r:embed="rId2">
              <a:alphaModFix/>
            </a:blip>
            <a:stretch>
              <a:fillRect/>
            </a:stretch>
          </a:blipFill>
          <a:ln>
            <a:noFill/>
          </a:ln>
        </p:spPr>
        <p:txBody>
          <a:body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550</Words>
  <Application>Microsoft Office PowerPoint</Application>
  <PresentationFormat>Custom</PresentationFormat>
  <Paragraphs>113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Roboto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NGA</dc:creator>
  <cp:lastModifiedBy>Macbook</cp:lastModifiedBy>
  <cp:revision>2</cp:revision>
  <dcterms:created xsi:type="dcterms:W3CDTF">2006-08-16T00:00:00Z</dcterms:created>
  <dcterms:modified xsi:type="dcterms:W3CDTF">2026-06-04T10:53:06Z</dcterms:modified>
</cp:coreProperties>
</file>